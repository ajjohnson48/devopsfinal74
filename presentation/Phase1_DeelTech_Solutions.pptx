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" cy="32004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DeelTech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BCD4"/>
                </a:solidFill>
                <a:latin typeface="Calibri"/>
              </a:defRPr>
            </a:pPr>
            <a:r>
              <a:t>CSC2510 Final Project  —  Phase 1: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971800"/>
            <a:ext cx="3657600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8ECF1"/>
                </a:solidFill>
                <a:latin typeface="Calibri"/>
              </a:defRPr>
            </a:pPr>
            <a:r>
              <a:t>DevOps Onboarding Automation for TNTech CS Faculty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90D9"/>
                </a:solidFill>
                <a:latin typeface="Calibri"/>
              </a:defRPr>
            </a:pPr>
            <a:r>
              <a:t>DeelTech Solutions DevOps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090A8"/>
                </a:solidFill>
                <a:latin typeface="Calibri"/>
              </a:defRPr>
            </a:pPr>
            <a:r>
              <a:t>Spring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90A8"/>
                </a:solidFill>
                <a:latin typeface="Calibri"/>
              </a:defRPr>
            </a:pPr>
            <a:r>
              <a:t>Technology Consulting  ·  Cloud Infrastructure  ·  DevOps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BCD4"/>
                </a:solidFill>
                <a:latin typeface="Calibri"/>
              </a:defRPr>
            </a:pPr>
            <a:r>
              <a:t>Presentation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01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66420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Problem Statement &amp; Scope of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57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02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16712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057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Team Roles &amp; Responsibilities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60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03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67004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Development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63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04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317296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063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Recommended Improvements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66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05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67588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Collaboration Methodology &amp;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69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06 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17880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069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Delivery Timeline &amp; Risk Scenarios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72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07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68172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CI/CD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074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08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518464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507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Conclusion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BCD4"/>
                </a:solidFill>
                <a:latin typeface="Calibri"/>
              </a:defRPr>
            </a:pPr>
            <a:r>
              <a:t>Why Automation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</a:pPr>
            <a:r>
              <a:rPr sz="1500">
                <a:solidFill>
                  <a:srgbClr val="00BCD4"/>
                </a:solidFill>
                <a:latin typeface="Calibri"/>
              </a:rPr>
              <a:t>▸ </a:t>
            </a:r>
            <a:r>
              <a:rPr sz="1500" b="0">
                <a:solidFill>
                  <a:srgbClr val="E8ECF1"/>
                </a:solidFill>
                <a:latin typeface="Calibri"/>
              </a:rPr>
              <a:t>TNTech CS department needs onboarding for 42+ faculty and staff</a:t>
            </a:r>
          </a:p>
          <a:p>
            <a:pPr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</a:pPr>
            <a:r>
              <a:rPr sz="1500">
                <a:solidFill>
                  <a:srgbClr val="00BCD4"/>
                </a:solidFill>
                <a:latin typeface="Calibri"/>
              </a:rPr>
              <a:t>▸ </a:t>
            </a:r>
            <a:r>
              <a:rPr sz="1500" b="0">
                <a:solidFill>
                  <a:srgbClr val="E8ECF1"/>
                </a:solidFill>
                <a:latin typeface="Calibri"/>
              </a:rPr>
              <a:t>Manual account creation is time-consuming and error-prone</a:t>
            </a:r>
          </a:p>
          <a:p>
            <a:pPr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</a:pPr>
            <a:r>
              <a:rPr sz="1500">
                <a:solidFill>
                  <a:srgbClr val="00BCD4"/>
                </a:solidFill>
                <a:latin typeface="Calibri"/>
              </a:rPr>
              <a:t>▸ </a:t>
            </a:r>
            <a:r>
              <a:rPr sz="1500" b="0">
                <a:solidFill>
                  <a:srgbClr val="E8ECF1"/>
                </a:solidFill>
                <a:latin typeface="Calibri"/>
              </a:rPr>
              <a:t>No standardized process for username/password assignment</a:t>
            </a:r>
          </a:p>
          <a:p>
            <a:pPr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</a:pPr>
            <a:r>
              <a:rPr sz="1500">
                <a:solidFill>
                  <a:srgbClr val="00BCD4"/>
                </a:solidFill>
                <a:latin typeface="Calibri"/>
              </a:rPr>
              <a:t>▸ </a:t>
            </a:r>
            <a:r>
              <a:rPr sz="1500" b="0">
                <a:solidFill>
                  <a:srgbClr val="E8ECF1"/>
                </a:solidFill>
                <a:latin typeface="Calibri"/>
              </a:rPr>
              <a:t>No automated way to pull current faculty data</a:t>
            </a:r>
          </a:p>
          <a:p>
            <a:pPr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</a:pPr>
            <a:r>
              <a:rPr sz="1500">
                <a:solidFill>
                  <a:srgbClr val="00BCD4"/>
                </a:solidFill>
                <a:latin typeface="Calibri"/>
              </a:rPr>
              <a:t>▸ </a:t>
            </a:r>
            <a:r>
              <a:rPr sz="1500" b="0">
                <a:solidFill>
                  <a:srgbClr val="E8ECF1"/>
                </a:solidFill>
                <a:latin typeface="Calibri"/>
              </a:rPr>
              <a:t>Inconsistent access provisioning leads to security risks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029200" cy="10972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50292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00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BCD4"/>
                </a:solidFill>
                <a:latin typeface="Calibri"/>
              </a:defRPr>
            </a:pPr>
            <a:r>
              <a:t>42+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Faculty and staff accounts to provision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43200"/>
            <a:ext cx="5029200" cy="10972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743200"/>
            <a:ext cx="50292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880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BCD4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004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Automation target for account creation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023360"/>
            <a:ext cx="5029200" cy="10972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023360"/>
            <a:ext cx="50292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BCD4"/>
                </a:solidFill>
                <a:latin typeface="Calibri"/>
              </a:defRPr>
            </a:pPr>
            <a:r>
              <a:t>4 Parts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80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Scrape → Auto-create → Manual add → Licensing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5099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8ECF1"/>
                </a:solidFill>
                <a:latin typeface="Calibri"/>
              </a:defRPr>
            </a:pPr>
            <a:r>
              <a:t>DeelTech Solutions was engaged to build a BASH automation program that eliminates manual processes and establishes a repeatable, secure onboarding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BCD4"/>
                </a:solidFill>
                <a:latin typeface="Calibri"/>
              </a:defRPr>
            </a:pPr>
            <a:r>
              <a:t>Four Technical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2560320" cy="256032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5603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BCD4"/>
                </a:solidFill>
                <a:latin typeface="Calibri"/>
              </a:defRPr>
            </a:pPr>
            <a:r>
              <a:t>Part 1: Web Scraping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Scrape TNTech CS faculty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671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Extract names via curl +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682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processing tools (grep/sed/awk)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946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Output: structured name 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508760"/>
            <a:ext cx="2560320" cy="256032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508760"/>
            <a:ext cx="25603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BCD4"/>
                </a:solidFill>
                <a:latin typeface="Calibri"/>
              </a:defRPr>
            </a:pPr>
            <a:r>
              <a:t>Part 2: Auto-Create 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Generate usernames (first.last)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1671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Set passwords via chpasswd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3682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Format: firstnameDEELTECH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56946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Batch process all scraped names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508760"/>
            <a:ext cx="2560320" cy="256032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508760"/>
            <a:ext cx="25603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BCD4"/>
                </a:solidFill>
                <a:latin typeface="Calibri"/>
              </a:defRPr>
            </a:pPr>
            <a:r>
              <a:t>Part 3: Manual Add 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Interactive CLI 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1671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Prompt for first/last 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3682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Apply same naming convention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56946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Validate input before creation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1508760"/>
            <a:ext cx="2560320" cy="256032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1508760"/>
            <a:ext cx="25603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BCD4"/>
                </a:solidFill>
                <a:latin typeface="Calibri"/>
              </a:defRPr>
            </a:pPr>
            <a:r>
              <a:t>Part 4: License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AI-assisted obfuscation logic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1671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Enforce valid license on startup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3682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Prevent unauthorized usage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56946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Obfuscated key verification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89120"/>
            <a:ext cx="11247120" cy="164592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389120"/>
            <a:ext cx="112471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BCD4"/>
                </a:solidFill>
                <a:latin typeface="Calibri"/>
              </a:defRPr>
            </a:pPr>
            <a:r>
              <a:t>Target Environment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92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90D9"/>
                </a:solidFill>
                <a:latin typeface="Calibri"/>
              </a:rPr>
              <a:t>OS: </a:t>
            </a:r>
            <a:r>
              <a:rPr sz="1300">
                <a:solidFill>
                  <a:srgbClr val="E8ECF1"/>
                </a:solidFill>
                <a:latin typeface="Calibri"/>
              </a:rPr>
              <a:t>Ubuntu 24.04 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148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90D9"/>
                </a:solidFill>
                <a:latin typeface="Calibri"/>
              </a:rPr>
              <a:t>Shell: </a:t>
            </a:r>
            <a:r>
              <a:rPr sz="1300">
                <a:solidFill>
                  <a:srgbClr val="E8ECF1"/>
                </a:solidFill>
                <a:latin typeface="Calibri"/>
              </a:rPr>
              <a:t>BASH v5.2.21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404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90D9"/>
                </a:solidFill>
                <a:latin typeface="Calibri"/>
              </a:rPr>
              <a:t>Virtualization: </a:t>
            </a:r>
            <a:r>
              <a:rPr sz="1300">
                <a:solidFill>
                  <a:srgbClr val="E8ECF1"/>
                </a:solidFill>
                <a:latin typeface="Calibri"/>
              </a:rPr>
              <a:t>Oracle VirtualBox 7.1.12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601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90D9"/>
                </a:solidFill>
                <a:latin typeface="Calibri"/>
              </a:rPr>
              <a:t>Architecture: </a:t>
            </a:r>
            <a:r>
              <a:rPr sz="1300">
                <a:solidFill>
                  <a:srgbClr val="E8ECF1"/>
                </a:solidFill>
                <a:latin typeface="Calibri"/>
              </a:rPr>
              <a:t>x86_64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 Roles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BCD4"/>
                </a:solidFill>
                <a:latin typeface="Calibri"/>
              </a:defRPr>
            </a:pPr>
            <a:r>
              <a:t>DeelTech Solutions DevOps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2651760" cy="42062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65176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" y="1737360"/>
            <a:ext cx="822960" cy="82296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8288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BCD4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Project Manager / Scrum 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90D9"/>
                </a:solidFill>
                <a:latin typeface="Calibri"/>
              </a:defRPr>
            </a:pPr>
            <a:r>
              <a:t>[Team Member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Sprint planning &amp; backlog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59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Stakeholder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06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Risk tracking &amp; mitigation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508760"/>
            <a:ext cx="2651760" cy="42062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1508760"/>
            <a:ext cx="265176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51960" y="1737360"/>
            <a:ext cx="822960" cy="82296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8288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BCD4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Lead 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90D9"/>
                </a:solidFill>
                <a:latin typeface="Calibri"/>
              </a:defRPr>
            </a:pPr>
            <a:r>
              <a:t>[Team Member Name]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Core BASH script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959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Web scraping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306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Code quality &amp; reviews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508760"/>
            <a:ext cx="2651760" cy="42062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508760"/>
            <a:ext cx="265176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78040" y="1737360"/>
            <a:ext cx="822960" cy="82296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18288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BCD4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DevOps Engineer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90D9"/>
                </a:solidFill>
                <a:latin typeface="Calibri"/>
              </a:defRPr>
            </a:pPr>
            <a:r>
              <a:t>[Team Member Name]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CI/CD pipeline configuration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959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VM environment setup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306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Deployment automation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1508760"/>
            <a:ext cx="2651760" cy="42062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1508760"/>
            <a:ext cx="265176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20" y="1737360"/>
            <a:ext cx="822960" cy="82296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18288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BCD4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QA / Documentation Lead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90D9"/>
                </a:solidFill>
                <a:latin typeface="Calibri"/>
              </a:defRPr>
            </a:pPr>
            <a:r>
              <a:t>[Team Member Name]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Test case development &amp; execution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959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User documentation &amp; README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306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>
                <a:solidFill>
                  <a:srgbClr val="E8ECF1"/>
                </a:solidFill>
                <a:latin typeface="Calibri"/>
              </a:rPr>
              <a:t>Final presentation preparation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Development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BCD4"/>
                </a:solidFill>
                <a:latin typeface="Calibri"/>
              </a:defRPr>
            </a:pPr>
            <a:r>
              <a:t>Technical Breakdown by 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BCD4"/>
                </a:solidFill>
                <a:latin typeface="Calibri"/>
              </a:defRPr>
            </a:pPr>
            <a:r>
              <a:t>Part 1 — Web Scraping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Use curl to fetch the TNTech CS faculty page HTML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Parse HTML with grep, sed, and awk pipelines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Extract first and last names into a structured list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Handle edge cases: hyphenated names, suffixes,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BCD4"/>
                </a:solidFill>
                <a:latin typeface="Calibri"/>
              </a:defRPr>
            </a:pPr>
            <a:r>
              <a:t>Part 2 — Automated Account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Read parsed name list and iterate with a loop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Generate username: firstname.lastname (lowercase)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Set password: firstnamelastnameDEELTECH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Use useradd and chpasswd for batch provisioning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BCD4"/>
                </a:solidFill>
                <a:latin typeface="Calibri"/>
              </a:defRPr>
            </a:pPr>
            <a:r>
              <a:t>Part 3 — Interactive Add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BASH function with read prompts for first/last name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Apply identical naming and password conventions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Validate input: non-empty, no special characters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Confirm action before creating the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BCD4"/>
                </a:solidFill>
                <a:latin typeface="Calibri"/>
              </a:defRPr>
            </a:pPr>
            <a:r>
              <a:t>Part 4 — License Key Obfuscation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AI-assisted generation of obfuscated license logic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Encode a valid license key within the script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Prompt user on startup; deny access if invalid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Obfuscation makes key non-trivially extractable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417320"/>
            <a:ext cx="18288" cy="42976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833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BCD4"/>
                </a:solidFill>
                <a:latin typeface="Calibri"/>
              </a:defRPr>
            </a:pPr>
            <a:r>
              <a:t>Scrape  →  Parse  →  Create Accounts  →  Manual Override  →  License Gate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Recommended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BCD4"/>
                </a:solidFill>
                <a:latin typeface="Calibri"/>
              </a:defRPr>
            </a:pPr>
            <a:r>
              <a:t>Enhancements Beyond Base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10789920" cy="105156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508760"/>
            <a:ext cx="54864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645920"/>
            <a:ext cx="502920" cy="50292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6916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600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Password Hashing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965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CF1"/>
                </a:solidFill>
                <a:latin typeface="Calibri"/>
              </a:defRPr>
            </a:pPr>
            <a:r>
              <a:t>Replace plaintext password storage with SHA-512 hashing via chpasswd's built-in encryption flags. Ensures passwords are never stored or transmitted in cleartext.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743200"/>
            <a:ext cx="10789920" cy="105156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743200"/>
            <a:ext cx="54864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2880360"/>
            <a:ext cx="502920" cy="50292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926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834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LDAP/Active Directory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200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CF1"/>
                </a:solidFill>
                <a:latin typeface="Calibri"/>
              </a:defRPr>
            </a:pPr>
            <a:r>
              <a:t>Extend the tool to provision accounts into an LDAP directory or Active Directory instance, enabling centralized authentication across campus systems.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977639"/>
            <a:ext cx="10789920" cy="105156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977639"/>
            <a:ext cx="54864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" y="4114799"/>
            <a:ext cx="502920" cy="50292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6051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0690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Email Notification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43483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CF1"/>
                </a:solidFill>
                <a:latin typeface="Calibri"/>
              </a:defRPr>
            </a:pPr>
            <a:r>
              <a:t>Automatically send a welcome email to newly created users with their credentials and first-login instructions using sendmail or an SMTP relay.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12080"/>
            <a:ext cx="10789920" cy="105156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212080"/>
            <a:ext cx="54864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" y="5349240"/>
            <a:ext cx="502920" cy="50292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394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Audit Logging &amp; Rollback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669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CF1"/>
                </a:solidFill>
                <a:latin typeface="Calibri"/>
              </a:defRPr>
            </a:pPr>
            <a:r>
              <a:t>Maintain a timestamped log of all account operations, enabling administrators to audit changes and roll back account creation if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Collaboration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BCD4"/>
                </a:solidFill>
                <a:latin typeface="Calibri"/>
              </a:defRPr>
            </a:pPr>
            <a:r>
              <a:t>How We Work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Version Control —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Central repository with protected main branch</a:t>
            </a:r>
          </a:p>
          <a:p>
            <a:pPr>
              <a:lnSpc>
                <a:spcPts val="1820"/>
              </a:lnSpc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Feature branch workflow (feature/* → main)</a:t>
            </a:r>
          </a:p>
          <a:p>
            <a:pPr>
              <a:lnSpc>
                <a:spcPts val="1820"/>
              </a:lnSpc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Pull requests required for all merges</a:t>
            </a:r>
          </a:p>
          <a:p>
            <a:pPr>
              <a:lnSpc>
                <a:spcPts val="1820"/>
              </a:lnSpc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Minimum one reviewer approval before merge</a:t>
            </a:r>
          </a:p>
          <a:p>
            <a:pPr>
              <a:lnSpc>
                <a:spcPts val="1820"/>
              </a:lnSpc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Semantic commit messages for 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Communication &amp;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Daily standups via Discord / Microsoft Teams</a:t>
            </a:r>
          </a:p>
          <a:p>
            <a:pPr>
              <a:lnSpc>
                <a:spcPts val="1820"/>
              </a:lnSpc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Sprint retrospectives after each phase</a:t>
            </a:r>
          </a:p>
          <a:p>
            <a:pPr>
              <a:lnSpc>
                <a:spcPts val="1820"/>
              </a:lnSpc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Code reviews via GitHub pull request comments</a:t>
            </a:r>
          </a:p>
          <a:p>
            <a:pPr>
              <a:lnSpc>
                <a:spcPts val="1820"/>
              </a:lnSpc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Shared documentation in repo wiki / README</a:t>
            </a:r>
          </a:p>
          <a:p>
            <a:pPr>
              <a:lnSpc>
                <a:spcPts val="1820"/>
              </a:lnSpc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Issue tracking via GitHub Issues + labels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63040"/>
            <a:ext cx="18288" cy="2560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297680"/>
            <a:ext cx="10789920" cy="182880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297680"/>
            <a:ext cx="107899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BCD4"/>
                </a:solidFill>
                <a:latin typeface="Calibri"/>
              </a:defRPr>
            </a:pPr>
            <a:r>
              <a:t>Git Branching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CD4"/>
                </a:solidFill>
                <a:latin typeface="Consolas"/>
              </a:rPr>
              <a:t>main            </a:t>
            </a:r>
            <a:r>
              <a:rPr sz="1300">
                <a:solidFill>
                  <a:srgbClr val="E8ECF1"/>
                </a:solidFill>
                <a:latin typeface="Calibri"/>
              </a:rPr>
              <a:t>  ──  Production-ready code, protected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3892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CD4"/>
                </a:solidFill>
                <a:latin typeface="Consolas"/>
              </a:rPr>
              <a:t>develop         </a:t>
            </a:r>
            <a:r>
              <a:rPr sz="1300">
                <a:solidFill>
                  <a:srgbClr val="E8ECF1"/>
                </a:solidFill>
                <a:latin typeface="Calibri"/>
              </a:rPr>
              <a:t>  ──  Integration branch for feature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3153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CD4"/>
                </a:solidFill>
                <a:latin typeface="Consolas"/>
              </a:rPr>
              <a:t>feature/*       </a:t>
            </a:r>
            <a:r>
              <a:rPr sz="1300">
                <a:solidFill>
                  <a:srgbClr val="E8ECF1"/>
                </a:solidFill>
                <a:latin typeface="Calibri"/>
              </a:rPr>
              <a:t>  ──  Individual feature branches per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2414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CD4"/>
                </a:solidFill>
                <a:latin typeface="Consolas"/>
              </a:rPr>
              <a:t>hotfix/*        </a:t>
            </a:r>
            <a:r>
              <a:rPr sz="1300">
                <a:solidFill>
                  <a:srgbClr val="E8ECF1"/>
                </a:solidFill>
                <a:latin typeface="Calibri"/>
              </a:rPr>
              <a:t>  ──  Emergency fixes applied directly to main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Delivery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BCD4"/>
                </a:solidFill>
                <a:latin typeface="Calibri"/>
              </a:defRPr>
            </a:pPr>
            <a:r>
              <a:t>Three Scenario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3383280" cy="46634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338328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BCD4"/>
                </a:solidFill>
                <a:latin typeface="Calibri"/>
              </a:defRPr>
            </a:pPr>
            <a:r>
              <a:t>PROBABLE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Probable Scenario — On-Time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All four parts delivered and functional by deadline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Web scraper successfully parses TNTech faculty page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Automated and manual account creation working end-to-end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License key obfuscation implemented and tested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00BCD4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Documentation and presentation completed on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1463040"/>
            <a:ext cx="3383280" cy="46634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1463040"/>
            <a:ext cx="338328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CAF50"/>
                </a:solidFill>
                <a:latin typeface="Calibri"/>
              </a:defRPr>
            </a:pPr>
            <a:r>
              <a:t>BEST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Best Case — Ahead of 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4231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4CAF50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Core deliverables completed early, enabling bonus features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4CAF50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Additional feature: user deletion / account deactivation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4CAF50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Additional feature: bulk import from CSV file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4CAF50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Extended testing with edge cases and stress testing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4CAF50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Polish: colored output, progress bars, help menus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1463040"/>
            <a:ext cx="3383280" cy="46634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1463040"/>
            <a:ext cx="3383280" cy="54864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7A45"/>
                </a:solidFill>
                <a:latin typeface="Calibri"/>
              </a:defRPr>
            </a:pPr>
            <a:r>
              <a:t>WORST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Worst Case — Web Scraper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4231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FF7A45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TNTech faculty page structure changes break the parser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FF7A45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Mitigation: fallback to manual name list (CSV / text file)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FF7A45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Mitigation: regex patterns updated for new HTML structure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FF7A45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Parts 2-4 remain unaffected and delivered on time</a:t>
            </a:r>
          </a:p>
          <a:p>
            <a:pPr>
              <a:lnSpc>
                <a:spcPts val="1430"/>
              </a:lnSpc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FF7A45"/>
                </a:solidFill>
                <a:latin typeface="Calibri"/>
              </a:rPr>
              <a:t>▸ </a:t>
            </a:r>
            <a:r>
              <a:rPr sz="1100" b="0">
                <a:solidFill>
                  <a:srgbClr val="E8ECF1"/>
                </a:solidFill>
                <a:latin typeface="Calibri"/>
              </a:rPr>
              <a:t>Risk is contained to Part 1; overall delivery still feasible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CI/CD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BCD4"/>
                </a:solidFill>
                <a:latin typeface="Calibri"/>
              </a:defRPr>
            </a:pPr>
            <a:r>
              <a:t>Automated Quality &amp; Deployment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828800" cy="14630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18288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CF1"/>
                </a:solidFill>
                <a:latin typeface="Calibri"/>
              </a:defRPr>
            </a:pPr>
            <a:r>
              <a:t>Developer pushes</a:t>
            </a:r>
            <a:br/>
            <a:r>
              <a:t>code to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148840"/>
            <a:ext cx="37625731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645920"/>
            <a:ext cx="1828800" cy="14630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1645920"/>
            <a:ext cx="18288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Lint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194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CF1"/>
                </a:solidFill>
                <a:latin typeface="Calibri"/>
              </a:defRPr>
            </a:pPr>
            <a:r>
              <a:t>ShellCheck static</a:t>
            </a:r>
            <a:br/>
            <a:r>
              <a:t>analysis on all .sh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148840"/>
            <a:ext cx="37625731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645920"/>
            <a:ext cx="1828800" cy="14630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645920"/>
            <a:ext cx="18288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194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CF1"/>
                </a:solidFill>
                <a:latin typeface="Calibri"/>
              </a:defRPr>
            </a:pPr>
            <a:r>
              <a:t>Automated test</a:t>
            </a:r>
            <a:br/>
            <a:r>
              <a:t>suite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148840"/>
            <a:ext cx="37625731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1645920"/>
            <a:ext cx="1828800" cy="14630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1645920"/>
            <a:ext cx="18288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194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CF1"/>
                </a:solidFill>
                <a:latin typeface="Calibri"/>
              </a:defRPr>
            </a:pPr>
            <a:r>
              <a:t>Pull request</a:t>
            </a:r>
            <a:br/>
            <a:r>
              <a:t>code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148840"/>
            <a:ext cx="37625731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1645920"/>
            <a:ext cx="1828800" cy="146304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645920"/>
            <a:ext cx="18288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194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CF1"/>
                </a:solidFill>
                <a:latin typeface="Calibri"/>
              </a:defRPr>
            </a:pPr>
            <a:r>
              <a:t>SSH deploy to</a:t>
            </a:r>
            <a:br/>
            <a:r>
              <a:t>test VM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520440"/>
            <a:ext cx="5303520" cy="265176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520440"/>
            <a:ext cx="53035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657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BCD4"/>
                </a:solidFill>
                <a:latin typeface="Calibri"/>
              </a:defRPr>
            </a:pPr>
            <a:r>
              <a:t>GitHub Actions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023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Triggered on every push and pull request to main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ShellCheck linting catches syntax &amp; style issues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Custom test scripts validate each of the 4 parts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Deployment only after all checks pass on main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>
                <a:solidFill>
                  <a:srgbClr val="00BCD4"/>
                </a:solidFill>
                <a:latin typeface="Calibri"/>
              </a:rPr>
              <a:t>▸ </a:t>
            </a:r>
            <a:r>
              <a:rPr sz="1300" b="0">
                <a:solidFill>
                  <a:srgbClr val="E8ECF1"/>
                </a:solidFill>
                <a:latin typeface="Calibri"/>
              </a:rPr>
              <a:t>SSH-based deploy copies script to test VM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520440"/>
            <a:ext cx="5303520" cy="265176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3520440"/>
            <a:ext cx="53035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657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BCD4"/>
                </a:solidFill>
                <a:latin typeface="Calibri"/>
              </a:defRPr>
            </a:pPr>
            <a:r>
              <a:t>Key Tools &amp; Technologies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023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>
                <a:solidFill>
                  <a:srgbClr val="00BCD4"/>
                </a:solidFill>
                <a:latin typeface="Calibri"/>
              </a:rPr>
              <a:t>GitHub Actions</a:t>
            </a:r>
            <a:r>
              <a:rPr sz="1300" b="0">
                <a:solidFill>
                  <a:srgbClr val="E8ECF1"/>
                </a:solidFill>
                <a:latin typeface="Calibri"/>
              </a:rPr>
              <a:t> — CI/CD orchestration platform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>
                <a:solidFill>
                  <a:srgbClr val="00BCD4"/>
                </a:solidFill>
                <a:latin typeface="Calibri"/>
              </a:rPr>
              <a:t>ShellCheck</a:t>
            </a:r>
            <a:r>
              <a:rPr sz="1300" b="0">
                <a:solidFill>
                  <a:srgbClr val="E8ECF1"/>
                </a:solidFill>
                <a:latin typeface="Calibri"/>
              </a:rPr>
              <a:t> — Static analysis for BASH scripts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>
                <a:solidFill>
                  <a:srgbClr val="00BCD4"/>
                </a:solidFill>
                <a:latin typeface="Calibri"/>
              </a:rPr>
              <a:t>BATS</a:t>
            </a:r>
            <a:r>
              <a:rPr sz="1300" b="0">
                <a:solidFill>
                  <a:srgbClr val="E8ECF1"/>
                </a:solidFill>
                <a:latin typeface="Calibri"/>
              </a:rPr>
              <a:t> — Bash Automated Testing System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>
                <a:solidFill>
                  <a:srgbClr val="00BCD4"/>
                </a:solidFill>
                <a:latin typeface="Calibri"/>
              </a:rPr>
              <a:t>SSH + SCP</a:t>
            </a:r>
            <a:r>
              <a:rPr sz="1300" b="0">
                <a:solidFill>
                  <a:srgbClr val="E8ECF1"/>
                </a:solidFill>
                <a:latin typeface="Calibri"/>
              </a:rPr>
              <a:t> — Secure deployment to target VM</a:t>
            </a:r>
          </a:p>
          <a:p>
            <a:pPr>
              <a:lnSpc>
                <a:spcPts val="169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>
                <a:solidFill>
                  <a:srgbClr val="00BCD4"/>
                </a:solidFill>
                <a:latin typeface="Calibri"/>
              </a:rPr>
              <a:t>Ubuntu 24.04</a:t>
            </a:r>
            <a:r>
              <a:rPr sz="1300" b="0">
                <a:solidFill>
                  <a:srgbClr val="E8ECF1"/>
                </a:solidFill>
                <a:latin typeface="Calibri"/>
              </a:rPr>
              <a:t> — Target runtime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BCD4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90A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Fully automated BASH onboarding script</a:t>
            </a:r>
          </a:p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Web scraping engine for TNTech CS faculty</a:t>
            </a:r>
          </a:p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Automated + manual account creation</a:t>
            </a:r>
          </a:p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License key enforcement with obfuscation</a:t>
            </a:r>
          </a:p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CI/CD pipeline with automated testing</a:t>
            </a:r>
          </a:p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Complete documentation and user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CD4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Finalize team role assignments</a:t>
            </a:r>
          </a:p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Set up GitHub repository and branch protection</a:t>
            </a:r>
          </a:p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Configure CI/CD pipeline (GitHub Actions)</a:t>
            </a:r>
          </a:p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Begin Part 1: web scraper development</a:t>
            </a:r>
          </a:p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Establish testing framework (BATS)</a:t>
            </a:r>
          </a:p>
          <a:p>
            <a:pPr>
              <a:lnSpc>
                <a:spcPts val="1820"/>
              </a:lnSpc>
              <a:spcBef>
                <a:spcPts val="100"/>
              </a:spcBef>
              <a:spcAft>
                <a:spcPts val="300"/>
              </a:spcAft>
            </a:pPr>
            <a:r>
              <a:rPr sz="1400">
                <a:solidFill>
                  <a:srgbClr val="00BCD4"/>
                </a:solidFill>
                <a:latin typeface="Calibri"/>
              </a:rPr>
              <a:t>▸ </a:t>
            </a:r>
            <a:r>
              <a:rPr sz="1400" b="0">
                <a:solidFill>
                  <a:srgbClr val="E8ECF1"/>
                </a:solidFill>
                <a:latin typeface="Calibri"/>
              </a:rPr>
              <a:t>Schedule weekly sprint reviews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463040"/>
            <a:ext cx="18288" cy="2743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754880"/>
            <a:ext cx="10789920" cy="1371600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754880"/>
            <a:ext cx="107899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CD4"/>
                </a:solidFill>
                <a:latin typeface="Calibri"/>
              </a:defRPr>
            </a:pPr>
            <a:r>
              <a:t>Team Confidence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8ECF1"/>
                </a:solidFill>
                <a:latin typeface="Calibri"/>
              </a:defRPr>
            </a:pPr>
            <a:r>
              <a:t>DeelTech Solutions is confident in delivering a robust, fully automated onboarding solution for the TNTech CS department. Our team brings strong expertise in BASH scripting, Linux systems administration, and DevOps practices. With a clear plan, proven tools, and proactive risk mitigation, we are well-positioned to exceed expectations.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3108960"/>
            <a:ext cx="2743200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90D9"/>
                </a:solidFill>
                <a:latin typeface="Calibri"/>
              </a:defRPr>
            </a:pPr>
            <a:r>
              <a:t>Thank you for your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090A8"/>
                </a:solidFill>
                <a:latin typeface="Calibri"/>
              </a:defRPr>
            </a:pPr>
            <a:r>
              <a:t>DeelTech Solutions  |  CSC2510 Final Project  |  Spring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5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90A8"/>
                </a:solidFill>
                <a:latin typeface="Calibri"/>
              </a:defRPr>
            </a:pPr>
            <a:r>
              <a:t>DeelTech Solutions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