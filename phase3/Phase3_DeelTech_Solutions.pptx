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54864" cy="320040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9144000" cy="914400"/>
          </a:xfrm>
          <a:prstGeom prst="rect">
            <a:avLst/>
          </a:prstGeom>
          <a:noFill/>
        </p:spPr>
        <p:txBody>
          <a:bodyPr wrap="square">
            <a:spAutoFit/>
          </a:bodyPr>
          <a:lstStyle/>
          <a:p>
            <a:pPr algn="l">
              <a:lnSpc>
                <a:spcPts val="5759"/>
              </a:lnSpc>
              <a:spcBef>
                <a:spcPts val="0"/>
              </a:spcBef>
              <a:spcAft>
                <a:spcPts val="0"/>
              </a:spcAft>
              <a:defRPr sz="4800" b="1">
                <a:solidFill>
                  <a:srgbClr val="FFFFFF"/>
                </a:solidFill>
                <a:latin typeface="Calibri"/>
              </a:defRPr>
            </a:pPr>
            <a:r>
              <a:t>DeelTech Solutions</a:t>
            </a:r>
          </a:p>
        </p:txBody>
      </p:sp>
      <p:sp>
        <p:nvSpPr>
          <p:cNvPr id="5" name="TextBox 4"/>
          <p:cNvSpPr txBox="1"/>
          <p:nvPr/>
        </p:nvSpPr>
        <p:spPr>
          <a:xfrm>
            <a:off x="1097280" y="2286000"/>
            <a:ext cx="9144000" cy="548640"/>
          </a:xfrm>
          <a:prstGeom prst="rect">
            <a:avLst/>
          </a:prstGeom>
          <a:noFill/>
        </p:spPr>
        <p:txBody>
          <a:bodyPr wrap="square">
            <a:spAutoFit/>
          </a:bodyPr>
          <a:lstStyle/>
          <a:p>
            <a:pPr algn="l">
              <a:lnSpc>
                <a:spcPts val="2879"/>
              </a:lnSpc>
              <a:spcBef>
                <a:spcPts val="0"/>
              </a:spcBef>
              <a:spcAft>
                <a:spcPts val="0"/>
              </a:spcAft>
              <a:defRPr sz="2400" b="0">
                <a:solidFill>
                  <a:srgbClr val="00BCD4"/>
                </a:solidFill>
                <a:latin typeface="Calibri"/>
              </a:defRPr>
            </a:pPr>
            <a:r>
              <a:t>CSC2510 Final Project  —  Phase 3: CI/CD &amp; Retrospective</a:t>
            </a:r>
          </a:p>
        </p:txBody>
      </p:sp>
      <p:sp>
        <p:nvSpPr>
          <p:cNvPr id="6" name="Rectangle 5"/>
          <p:cNvSpPr/>
          <p:nvPr/>
        </p:nvSpPr>
        <p:spPr>
          <a:xfrm>
            <a:off x="1097280" y="2971800"/>
            <a:ext cx="3657600" cy="18288"/>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200400"/>
            <a:ext cx="9144000" cy="457200"/>
          </a:xfrm>
          <a:prstGeom prst="rect">
            <a:avLst/>
          </a:prstGeom>
          <a:noFill/>
        </p:spPr>
        <p:txBody>
          <a:bodyPr wrap="square">
            <a:spAutoFit/>
          </a:bodyPr>
          <a:lstStyle/>
          <a:p>
            <a:pPr algn="l">
              <a:lnSpc>
                <a:spcPts val="2400"/>
              </a:lnSpc>
              <a:spcBef>
                <a:spcPts val="0"/>
              </a:spcBef>
              <a:spcAft>
                <a:spcPts val="0"/>
              </a:spcAft>
              <a:defRPr sz="2000" b="0">
                <a:solidFill>
                  <a:srgbClr val="E8ECF1"/>
                </a:solidFill>
                <a:latin typeface="Calibri"/>
              </a:defRPr>
            </a:pPr>
            <a:r>
              <a:t>Continuous Integration, Lessons Learned &amp; Process Improvements</a:t>
            </a:r>
          </a:p>
        </p:txBody>
      </p:sp>
      <p:sp>
        <p:nvSpPr>
          <p:cNvPr id="8" name="TextBox 7"/>
          <p:cNvSpPr txBox="1"/>
          <p:nvPr/>
        </p:nvSpPr>
        <p:spPr>
          <a:xfrm>
            <a:off x="1097280" y="3931920"/>
            <a:ext cx="9144000" cy="365760"/>
          </a:xfrm>
          <a:prstGeom prst="rect">
            <a:avLst/>
          </a:prstGeom>
          <a:noFill/>
        </p:spPr>
        <p:txBody>
          <a:bodyPr wrap="square">
            <a:spAutoFit/>
          </a:bodyPr>
          <a:lstStyle/>
          <a:p>
            <a:pPr algn="l">
              <a:lnSpc>
                <a:spcPts val="1920"/>
              </a:lnSpc>
              <a:spcBef>
                <a:spcPts val="0"/>
              </a:spcBef>
              <a:spcAft>
                <a:spcPts val="0"/>
              </a:spcAft>
              <a:defRPr sz="1600" b="0">
                <a:solidFill>
                  <a:srgbClr val="4A90D9"/>
                </a:solidFill>
                <a:latin typeface="Calibri"/>
              </a:defRPr>
            </a:pPr>
            <a:r>
              <a:t>DeelTech Solutions DevOps Team</a:t>
            </a:r>
          </a:p>
        </p:txBody>
      </p:sp>
      <p:sp>
        <p:nvSpPr>
          <p:cNvPr id="9" name="TextBox 8"/>
          <p:cNvSpPr txBox="1"/>
          <p:nvPr/>
        </p:nvSpPr>
        <p:spPr>
          <a:xfrm>
            <a:off x="1097280" y="4389120"/>
            <a:ext cx="9144000" cy="365760"/>
          </a:xfrm>
          <a:prstGeom prst="rect">
            <a:avLst/>
          </a:prstGeom>
          <a:noFill/>
        </p:spPr>
        <p:txBody>
          <a:bodyPr wrap="square">
            <a:spAutoFit/>
          </a:bodyPr>
          <a:lstStyle/>
          <a:p>
            <a:pPr algn="l">
              <a:lnSpc>
                <a:spcPts val="1680"/>
              </a:lnSpc>
              <a:spcBef>
                <a:spcPts val="0"/>
              </a:spcBef>
              <a:spcAft>
                <a:spcPts val="0"/>
              </a:spcAft>
              <a:defRPr sz="1400" b="0">
                <a:solidFill>
                  <a:srgbClr val="8090A8"/>
                </a:solidFill>
                <a:latin typeface="Calibri"/>
              </a:defRPr>
            </a:pPr>
            <a:r>
              <a:t>Spring 2026</a:t>
            </a:r>
          </a:p>
        </p:txBody>
      </p:sp>
      <p:sp>
        <p:nvSpPr>
          <p:cNvPr id="10" name="Rectangle 9"/>
          <p:cNvSpPr/>
          <p:nvPr/>
        </p:nvSpPr>
        <p:spPr>
          <a:xfrm>
            <a:off x="0" y="6492240"/>
            <a:ext cx="121916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28816"/>
            <a:ext cx="12191695" cy="329184"/>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5486400" cy="274320"/>
          </a:xfrm>
          <a:prstGeom prst="rect">
            <a:avLst/>
          </a:prstGeom>
          <a:noFill/>
        </p:spPr>
        <p:txBody>
          <a:bodyPr wrap="square">
            <a:spAutoFit/>
          </a:bodyPr>
          <a:lstStyle/>
          <a:p>
            <a:pPr algn="l">
              <a:lnSpc>
                <a:spcPts val="1200"/>
              </a:lnSpc>
              <a:spcBef>
                <a:spcPts val="0"/>
              </a:spcBef>
              <a:spcAft>
                <a:spcPts val="0"/>
              </a:spcAft>
              <a:defRPr sz="1000" b="0">
                <a:solidFill>
                  <a:srgbClr val="8090A8"/>
                </a:solidFill>
                <a:latin typeface="Calibri"/>
              </a:defRPr>
            </a:pPr>
            <a:r>
              <a:t>Technology Consulting  ·  Cloud Infrastructure  ·  DevOps Services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058400" cy="59436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Agenda</a:t>
            </a:r>
          </a:p>
        </p:txBody>
      </p:sp>
      <p:sp>
        <p:nvSpPr>
          <p:cNvPr id="5" name="TextBox 4"/>
          <p:cNvSpPr txBox="1"/>
          <p:nvPr/>
        </p:nvSpPr>
        <p:spPr>
          <a:xfrm>
            <a:off x="685800" y="731520"/>
            <a:ext cx="10058400" cy="365760"/>
          </a:xfrm>
          <a:prstGeom prst="rect">
            <a:avLst/>
          </a:prstGeom>
          <a:noFill/>
        </p:spPr>
        <p:txBody>
          <a:bodyPr wrap="square">
            <a:spAutoFit/>
          </a:bodyPr>
          <a:lstStyle/>
          <a:p>
            <a:pPr algn="l">
              <a:lnSpc>
                <a:spcPts val="1680"/>
              </a:lnSpc>
              <a:spcBef>
                <a:spcPts val="0"/>
              </a:spcBef>
              <a:spcAft>
                <a:spcPts val="0"/>
              </a:spcAft>
              <a:defRPr sz="1400" b="0">
                <a:solidFill>
                  <a:srgbClr val="00BCD4"/>
                </a:solidFill>
                <a:latin typeface="Calibri"/>
              </a:defRPr>
            </a:pPr>
            <a:r>
              <a:t>Presentation Overview</a:t>
            </a:r>
          </a:p>
        </p:txBody>
      </p:sp>
      <p:sp>
        <p:nvSpPr>
          <p:cNvPr id="6" name="Rectangle 5"/>
          <p:cNvSpPr/>
          <p:nvPr/>
        </p:nvSpPr>
        <p:spPr>
          <a:xfrm>
            <a:off x="0" y="6446520"/>
            <a:ext cx="12191695" cy="41148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2743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92240"/>
            <a:ext cx="4572000" cy="320040"/>
          </a:xfrm>
          <a:prstGeom prst="rect">
            <a:avLst/>
          </a:prstGeom>
          <a:noFill/>
        </p:spPr>
        <p:txBody>
          <a:bodyPr wrap="square">
            <a:spAutoFit/>
          </a:bodyPr>
          <a:lstStyle/>
          <a:p>
            <a:pPr algn="l">
              <a:lnSpc>
                <a:spcPts val="1080"/>
              </a:lnSpc>
              <a:spcBef>
                <a:spcPts val="0"/>
              </a:spcBef>
              <a:spcAft>
                <a:spcPts val="0"/>
              </a:spcAft>
              <a:defRPr sz="900" b="0">
                <a:solidFill>
                  <a:srgbClr val="8090A8"/>
                </a:solidFill>
                <a:latin typeface="Calibri"/>
              </a:defRPr>
            </a:pPr>
            <a:r>
              <a:t>DeelTech Solutions  |  Confidential</a:t>
            </a:r>
          </a:p>
        </p:txBody>
      </p:sp>
      <p:sp>
        <p:nvSpPr>
          <p:cNvPr id="9" name="TextBox 8"/>
          <p:cNvSpPr txBox="1"/>
          <p:nvPr/>
        </p:nvSpPr>
        <p:spPr>
          <a:xfrm>
            <a:off x="10515600" y="6492240"/>
            <a:ext cx="1371600" cy="320040"/>
          </a:xfrm>
          <a:prstGeom prst="rect">
            <a:avLst/>
          </a:prstGeom>
          <a:noFill/>
        </p:spPr>
        <p:txBody>
          <a:bodyPr wrap="square">
            <a:spAutoFit/>
          </a:bodyPr>
          <a:lstStyle/>
          <a:p>
            <a:pPr algn="r">
              <a:lnSpc>
                <a:spcPts val="1080"/>
              </a:lnSpc>
              <a:spcBef>
                <a:spcPts val="0"/>
              </a:spcBef>
              <a:spcAft>
                <a:spcPts val="0"/>
              </a:spcAft>
              <a:defRPr sz="900" b="0">
                <a:solidFill>
                  <a:srgbClr val="8090A8"/>
                </a:solidFill>
                <a:latin typeface="Calibri"/>
              </a:defRPr>
            </a:pPr>
            <a:r>
              <a:t>2</a:t>
            </a:r>
          </a:p>
        </p:txBody>
      </p:sp>
      <p:sp>
        <p:nvSpPr>
          <p:cNvPr id="10" name="TextBox 9"/>
          <p:cNvSpPr txBox="1"/>
          <p:nvPr/>
        </p:nvSpPr>
        <p:spPr>
          <a:xfrm>
            <a:off x="1828800" y="1645920"/>
            <a:ext cx="731520" cy="365760"/>
          </a:xfrm>
          <a:prstGeom prst="rect">
            <a:avLst/>
          </a:prstGeom>
          <a:noFill/>
        </p:spPr>
        <p:txBody>
          <a:bodyPr wrap="square">
            <a:spAutoFit/>
          </a:bodyPr>
          <a:lstStyle/>
          <a:p>
            <a:pPr algn="r">
              <a:lnSpc>
                <a:spcPts val="2400"/>
              </a:lnSpc>
              <a:spcBef>
                <a:spcPts val="0"/>
              </a:spcBef>
              <a:spcAft>
                <a:spcPts val="0"/>
              </a:spcAft>
              <a:defRPr sz="2000" b="1">
                <a:solidFill>
                  <a:srgbClr val="00BCD4"/>
                </a:solidFill>
                <a:latin typeface="Calibri"/>
              </a:defRPr>
            </a:pPr>
            <a:r>
              <a:t>01  </a:t>
            </a:r>
          </a:p>
        </p:txBody>
      </p:sp>
      <p:sp>
        <p:nvSpPr>
          <p:cNvPr id="11" name="Rectangle 10"/>
          <p:cNvSpPr/>
          <p:nvPr/>
        </p:nvSpPr>
        <p:spPr>
          <a:xfrm>
            <a:off x="2743200" y="1764792"/>
            <a:ext cx="73152" cy="7315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1645920"/>
            <a:ext cx="7315200" cy="365760"/>
          </a:xfrm>
          <a:prstGeom prst="rect">
            <a:avLst/>
          </a:prstGeom>
          <a:noFill/>
        </p:spPr>
        <p:txBody>
          <a:bodyPr wrap="square">
            <a:spAutoFit/>
          </a:bodyPr>
          <a:lstStyle/>
          <a:p>
            <a:pPr algn="l">
              <a:lnSpc>
                <a:spcPts val="2400"/>
              </a:lnSpc>
              <a:spcBef>
                <a:spcPts val="0"/>
              </a:spcBef>
              <a:spcAft>
                <a:spcPts val="0"/>
              </a:spcAft>
              <a:defRPr sz="2000" b="0">
                <a:solidFill>
                  <a:srgbClr val="FFFFFF"/>
                </a:solidFill>
                <a:latin typeface="Calibri"/>
              </a:defRPr>
            </a:pPr>
            <a:r>
              <a:t>CI/CD Overview</a:t>
            </a:r>
          </a:p>
        </p:txBody>
      </p:sp>
      <p:sp>
        <p:nvSpPr>
          <p:cNvPr id="13" name="TextBox 12"/>
          <p:cNvSpPr txBox="1"/>
          <p:nvPr/>
        </p:nvSpPr>
        <p:spPr>
          <a:xfrm>
            <a:off x="1828800" y="2194560"/>
            <a:ext cx="731520" cy="365760"/>
          </a:xfrm>
          <a:prstGeom prst="rect">
            <a:avLst/>
          </a:prstGeom>
          <a:noFill/>
        </p:spPr>
        <p:txBody>
          <a:bodyPr wrap="square">
            <a:spAutoFit/>
          </a:bodyPr>
          <a:lstStyle/>
          <a:p>
            <a:pPr algn="r">
              <a:lnSpc>
                <a:spcPts val="2400"/>
              </a:lnSpc>
              <a:spcBef>
                <a:spcPts val="0"/>
              </a:spcBef>
              <a:spcAft>
                <a:spcPts val="0"/>
              </a:spcAft>
              <a:defRPr sz="2000" b="1">
                <a:solidFill>
                  <a:srgbClr val="00BCD4"/>
                </a:solidFill>
                <a:latin typeface="Calibri"/>
              </a:defRPr>
            </a:pPr>
            <a:r>
              <a:t>02  </a:t>
            </a:r>
          </a:p>
        </p:txBody>
      </p:sp>
      <p:sp>
        <p:nvSpPr>
          <p:cNvPr id="14" name="Rectangle 13"/>
          <p:cNvSpPr/>
          <p:nvPr/>
        </p:nvSpPr>
        <p:spPr>
          <a:xfrm>
            <a:off x="2743200" y="2313432"/>
            <a:ext cx="73152" cy="7315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17520" y="2194560"/>
            <a:ext cx="7315200" cy="365760"/>
          </a:xfrm>
          <a:prstGeom prst="rect">
            <a:avLst/>
          </a:prstGeom>
          <a:noFill/>
        </p:spPr>
        <p:txBody>
          <a:bodyPr wrap="square">
            <a:spAutoFit/>
          </a:bodyPr>
          <a:lstStyle/>
          <a:p>
            <a:pPr algn="l">
              <a:lnSpc>
                <a:spcPts val="2400"/>
              </a:lnSpc>
              <a:spcBef>
                <a:spcPts val="0"/>
              </a:spcBef>
              <a:spcAft>
                <a:spcPts val="0"/>
              </a:spcAft>
              <a:defRPr sz="2000" b="0">
                <a:solidFill>
                  <a:srgbClr val="FFFFFF"/>
                </a:solidFill>
                <a:latin typeface="Calibri"/>
              </a:defRPr>
            </a:pPr>
            <a:r>
              <a:t>Our Pipeline Design</a:t>
            </a:r>
          </a:p>
        </p:txBody>
      </p:sp>
      <p:sp>
        <p:nvSpPr>
          <p:cNvPr id="16" name="TextBox 15"/>
          <p:cNvSpPr txBox="1"/>
          <p:nvPr/>
        </p:nvSpPr>
        <p:spPr>
          <a:xfrm>
            <a:off x="1828800" y="2743200"/>
            <a:ext cx="731520" cy="365760"/>
          </a:xfrm>
          <a:prstGeom prst="rect">
            <a:avLst/>
          </a:prstGeom>
          <a:noFill/>
        </p:spPr>
        <p:txBody>
          <a:bodyPr wrap="square">
            <a:spAutoFit/>
          </a:bodyPr>
          <a:lstStyle/>
          <a:p>
            <a:pPr algn="r">
              <a:lnSpc>
                <a:spcPts val="2400"/>
              </a:lnSpc>
              <a:spcBef>
                <a:spcPts val="0"/>
              </a:spcBef>
              <a:spcAft>
                <a:spcPts val="0"/>
              </a:spcAft>
              <a:defRPr sz="2000" b="1">
                <a:solidFill>
                  <a:srgbClr val="00BCD4"/>
                </a:solidFill>
                <a:latin typeface="Calibri"/>
              </a:defRPr>
            </a:pPr>
            <a:r>
              <a:t>03  </a:t>
            </a:r>
          </a:p>
        </p:txBody>
      </p:sp>
      <p:sp>
        <p:nvSpPr>
          <p:cNvPr id="17" name="Rectangle 16"/>
          <p:cNvSpPr/>
          <p:nvPr/>
        </p:nvSpPr>
        <p:spPr>
          <a:xfrm>
            <a:off x="2743200" y="2862072"/>
            <a:ext cx="73152" cy="7315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2743200"/>
            <a:ext cx="7315200" cy="365760"/>
          </a:xfrm>
          <a:prstGeom prst="rect">
            <a:avLst/>
          </a:prstGeom>
          <a:noFill/>
        </p:spPr>
        <p:txBody>
          <a:bodyPr wrap="square">
            <a:spAutoFit/>
          </a:bodyPr>
          <a:lstStyle/>
          <a:p>
            <a:pPr algn="l">
              <a:lnSpc>
                <a:spcPts val="2400"/>
              </a:lnSpc>
              <a:spcBef>
                <a:spcPts val="0"/>
              </a:spcBef>
              <a:spcAft>
                <a:spcPts val="0"/>
              </a:spcAft>
              <a:defRPr sz="2000" b="0">
                <a:solidFill>
                  <a:srgbClr val="FFFFFF"/>
                </a:solidFill>
                <a:latin typeface="Calibri"/>
              </a:defRPr>
            </a:pPr>
            <a:r>
              <a:t>CI/CD in Action</a:t>
            </a:r>
          </a:p>
        </p:txBody>
      </p:sp>
      <p:sp>
        <p:nvSpPr>
          <p:cNvPr id="19" name="TextBox 18"/>
          <p:cNvSpPr txBox="1"/>
          <p:nvPr/>
        </p:nvSpPr>
        <p:spPr>
          <a:xfrm>
            <a:off x="1828800" y="3291840"/>
            <a:ext cx="731520" cy="365760"/>
          </a:xfrm>
          <a:prstGeom prst="rect">
            <a:avLst/>
          </a:prstGeom>
          <a:noFill/>
        </p:spPr>
        <p:txBody>
          <a:bodyPr wrap="square">
            <a:spAutoFit/>
          </a:bodyPr>
          <a:lstStyle/>
          <a:p>
            <a:pPr algn="r">
              <a:lnSpc>
                <a:spcPts val="2400"/>
              </a:lnSpc>
              <a:spcBef>
                <a:spcPts val="0"/>
              </a:spcBef>
              <a:spcAft>
                <a:spcPts val="0"/>
              </a:spcAft>
              <a:defRPr sz="2000" b="1">
                <a:solidFill>
                  <a:srgbClr val="00BCD4"/>
                </a:solidFill>
                <a:latin typeface="Calibri"/>
              </a:defRPr>
            </a:pPr>
            <a:r>
              <a:t>04  </a:t>
            </a:r>
          </a:p>
        </p:txBody>
      </p:sp>
      <p:sp>
        <p:nvSpPr>
          <p:cNvPr id="20" name="Rectangle 19"/>
          <p:cNvSpPr/>
          <p:nvPr/>
        </p:nvSpPr>
        <p:spPr>
          <a:xfrm>
            <a:off x="2743200" y="3410712"/>
            <a:ext cx="73152" cy="7315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7520" y="3291840"/>
            <a:ext cx="7315200" cy="365760"/>
          </a:xfrm>
          <a:prstGeom prst="rect">
            <a:avLst/>
          </a:prstGeom>
          <a:noFill/>
        </p:spPr>
        <p:txBody>
          <a:bodyPr wrap="square">
            <a:spAutoFit/>
          </a:bodyPr>
          <a:lstStyle/>
          <a:p>
            <a:pPr algn="l">
              <a:lnSpc>
                <a:spcPts val="2400"/>
              </a:lnSpc>
              <a:spcBef>
                <a:spcPts val="0"/>
              </a:spcBef>
              <a:spcAft>
                <a:spcPts val="0"/>
              </a:spcAft>
              <a:defRPr sz="2000" b="0">
                <a:solidFill>
                  <a:srgbClr val="FFFFFF"/>
                </a:solidFill>
                <a:latin typeface="Calibri"/>
              </a:defRPr>
            </a:pPr>
            <a:r>
              <a:t>Results &amp; Experience</a:t>
            </a:r>
          </a:p>
        </p:txBody>
      </p:sp>
      <p:sp>
        <p:nvSpPr>
          <p:cNvPr id="22" name="TextBox 21"/>
          <p:cNvSpPr txBox="1"/>
          <p:nvPr/>
        </p:nvSpPr>
        <p:spPr>
          <a:xfrm>
            <a:off x="1828800" y="3840480"/>
            <a:ext cx="731520" cy="365760"/>
          </a:xfrm>
          <a:prstGeom prst="rect">
            <a:avLst/>
          </a:prstGeom>
          <a:noFill/>
        </p:spPr>
        <p:txBody>
          <a:bodyPr wrap="square">
            <a:spAutoFit/>
          </a:bodyPr>
          <a:lstStyle/>
          <a:p>
            <a:pPr algn="r">
              <a:lnSpc>
                <a:spcPts val="2400"/>
              </a:lnSpc>
              <a:spcBef>
                <a:spcPts val="0"/>
              </a:spcBef>
              <a:spcAft>
                <a:spcPts val="0"/>
              </a:spcAft>
              <a:defRPr sz="2000" b="1">
                <a:solidFill>
                  <a:srgbClr val="00BCD4"/>
                </a:solidFill>
                <a:latin typeface="Calibri"/>
              </a:defRPr>
            </a:pPr>
            <a:r>
              <a:t>05  </a:t>
            </a:r>
          </a:p>
        </p:txBody>
      </p:sp>
      <p:sp>
        <p:nvSpPr>
          <p:cNvPr id="23" name="Rectangle 22"/>
          <p:cNvSpPr/>
          <p:nvPr/>
        </p:nvSpPr>
        <p:spPr>
          <a:xfrm>
            <a:off x="2743200" y="3959352"/>
            <a:ext cx="73152" cy="7315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0" y="3840480"/>
            <a:ext cx="7315200" cy="365760"/>
          </a:xfrm>
          <a:prstGeom prst="rect">
            <a:avLst/>
          </a:prstGeom>
          <a:noFill/>
        </p:spPr>
        <p:txBody>
          <a:bodyPr wrap="square">
            <a:spAutoFit/>
          </a:bodyPr>
          <a:lstStyle/>
          <a:p>
            <a:pPr algn="l">
              <a:lnSpc>
                <a:spcPts val="2400"/>
              </a:lnSpc>
              <a:spcBef>
                <a:spcPts val="0"/>
              </a:spcBef>
              <a:spcAft>
                <a:spcPts val="0"/>
              </a:spcAft>
              <a:defRPr sz="2000" b="0">
                <a:solidFill>
                  <a:srgbClr val="FFFFFF"/>
                </a:solidFill>
                <a:latin typeface="Calibri"/>
              </a:defRPr>
            </a:pPr>
            <a:r>
              <a:t>Lessons Learned</a:t>
            </a:r>
          </a:p>
        </p:txBody>
      </p:sp>
      <p:sp>
        <p:nvSpPr>
          <p:cNvPr id="25" name="TextBox 24"/>
          <p:cNvSpPr txBox="1"/>
          <p:nvPr/>
        </p:nvSpPr>
        <p:spPr>
          <a:xfrm>
            <a:off x="1828800" y="4389120"/>
            <a:ext cx="731520" cy="365760"/>
          </a:xfrm>
          <a:prstGeom prst="rect">
            <a:avLst/>
          </a:prstGeom>
          <a:noFill/>
        </p:spPr>
        <p:txBody>
          <a:bodyPr wrap="square">
            <a:spAutoFit/>
          </a:bodyPr>
          <a:lstStyle/>
          <a:p>
            <a:pPr algn="r">
              <a:lnSpc>
                <a:spcPts val="2400"/>
              </a:lnSpc>
              <a:spcBef>
                <a:spcPts val="0"/>
              </a:spcBef>
              <a:spcAft>
                <a:spcPts val="0"/>
              </a:spcAft>
              <a:defRPr sz="2000" b="1">
                <a:solidFill>
                  <a:srgbClr val="00BCD4"/>
                </a:solidFill>
                <a:latin typeface="Calibri"/>
              </a:defRPr>
            </a:pPr>
            <a:r>
              <a:t>06  </a:t>
            </a:r>
          </a:p>
        </p:txBody>
      </p:sp>
      <p:sp>
        <p:nvSpPr>
          <p:cNvPr id="26" name="Rectangle 25"/>
          <p:cNvSpPr/>
          <p:nvPr/>
        </p:nvSpPr>
        <p:spPr>
          <a:xfrm>
            <a:off x="2743200" y="4507992"/>
            <a:ext cx="73152" cy="7315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4389120"/>
            <a:ext cx="7315200" cy="365760"/>
          </a:xfrm>
          <a:prstGeom prst="rect">
            <a:avLst/>
          </a:prstGeom>
          <a:noFill/>
        </p:spPr>
        <p:txBody>
          <a:bodyPr wrap="square">
            <a:spAutoFit/>
          </a:bodyPr>
          <a:lstStyle/>
          <a:p>
            <a:pPr algn="l">
              <a:lnSpc>
                <a:spcPts val="2400"/>
              </a:lnSpc>
              <a:spcBef>
                <a:spcPts val="0"/>
              </a:spcBef>
              <a:spcAft>
                <a:spcPts val="0"/>
              </a:spcAft>
              <a:defRPr sz="2000" b="0">
                <a:solidFill>
                  <a:srgbClr val="FFFFFF"/>
                </a:solidFill>
                <a:latin typeface="Calibri"/>
              </a:defRPr>
            </a:pPr>
            <a:r>
              <a:t>Process Improvements</a:t>
            </a:r>
          </a:p>
        </p:txBody>
      </p:sp>
      <p:sp>
        <p:nvSpPr>
          <p:cNvPr id="28" name="TextBox 27"/>
          <p:cNvSpPr txBox="1"/>
          <p:nvPr/>
        </p:nvSpPr>
        <p:spPr>
          <a:xfrm>
            <a:off x="1828800" y="4937760"/>
            <a:ext cx="731520" cy="365760"/>
          </a:xfrm>
          <a:prstGeom prst="rect">
            <a:avLst/>
          </a:prstGeom>
          <a:noFill/>
        </p:spPr>
        <p:txBody>
          <a:bodyPr wrap="square">
            <a:spAutoFit/>
          </a:bodyPr>
          <a:lstStyle/>
          <a:p>
            <a:pPr algn="r">
              <a:lnSpc>
                <a:spcPts val="2400"/>
              </a:lnSpc>
              <a:spcBef>
                <a:spcPts val="0"/>
              </a:spcBef>
              <a:spcAft>
                <a:spcPts val="0"/>
              </a:spcAft>
              <a:defRPr sz="2000" b="1">
                <a:solidFill>
                  <a:srgbClr val="00BCD4"/>
                </a:solidFill>
                <a:latin typeface="Calibri"/>
              </a:defRPr>
            </a:pPr>
            <a:r>
              <a:t>07  </a:t>
            </a:r>
          </a:p>
        </p:txBody>
      </p:sp>
      <p:sp>
        <p:nvSpPr>
          <p:cNvPr id="29" name="Rectangle 28"/>
          <p:cNvSpPr/>
          <p:nvPr/>
        </p:nvSpPr>
        <p:spPr>
          <a:xfrm>
            <a:off x="2743200" y="5056632"/>
            <a:ext cx="73152" cy="7315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17520" y="4937760"/>
            <a:ext cx="7315200" cy="365760"/>
          </a:xfrm>
          <a:prstGeom prst="rect">
            <a:avLst/>
          </a:prstGeom>
          <a:noFill/>
        </p:spPr>
        <p:txBody>
          <a:bodyPr wrap="square">
            <a:spAutoFit/>
          </a:bodyPr>
          <a:lstStyle/>
          <a:p>
            <a:pPr algn="l">
              <a:lnSpc>
                <a:spcPts val="2400"/>
              </a:lnSpc>
              <a:spcBef>
                <a:spcPts val="0"/>
              </a:spcBef>
              <a:spcAft>
                <a:spcPts val="0"/>
              </a:spcAft>
              <a:defRPr sz="2000" b="0">
                <a:solidFill>
                  <a:srgbClr val="FFFFFF"/>
                </a:solidFill>
                <a:latin typeface="Calibri"/>
              </a:defRPr>
            </a:pPr>
            <a:r>
              <a:t>Conclusion &amp;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058400" cy="59436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CI/CD Overview</a:t>
            </a:r>
          </a:p>
        </p:txBody>
      </p:sp>
      <p:sp>
        <p:nvSpPr>
          <p:cNvPr id="5" name="TextBox 4"/>
          <p:cNvSpPr txBox="1"/>
          <p:nvPr/>
        </p:nvSpPr>
        <p:spPr>
          <a:xfrm>
            <a:off x="685800" y="731520"/>
            <a:ext cx="10058400" cy="365760"/>
          </a:xfrm>
          <a:prstGeom prst="rect">
            <a:avLst/>
          </a:prstGeom>
          <a:noFill/>
        </p:spPr>
        <p:txBody>
          <a:bodyPr wrap="square">
            <a:spAutoFit/>
          </a:bodyPr>
          <a:lstStyle/>
          <a:p>
            <a:pPr algn="l">
              <a:lnSpc>
                <a:spcPts val="1680"/>
              </a:lnSpc>
              <a:spcBef>
                <a:spcPts val="0"/>
              </a:spcBef>
              <a:spcAft>
                <a:spcPts val="0"/>
              </a:spcAft>
              <a:defRPr sz="1400" b="0">
                <a:solidFill>
                  <a:srgbClr val="00BCD4"/>
                </a:solidFill>
                <a:latin typeface="Calibri"/>
              </a:defRPr>
            </a:pPr>
            <a:r>
              <a:t>Why Continuous Integration &amp; Delivery Matters</a:t>
            </a:r>
          </a:p>
        </p:txBody>
      </p:sp>
      <p:sp>
        <p:nvSpPr>
          <p:cNvPr id="6" name="Rectangle 5"/>
          <p:cNvSpPr/>
          <p:nvPr/>
        </p:nvSpPr>
        <p:spPr>
          <a:xfrm>
            <a:off x="0" y="6446520"/>
            <a:ext cx="12191695" cy="41148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2743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92240"/>
            <a:ext cx="4572000" cy="320040"/>
          </a:xfrm>
          <a:prstGeom prst="rect">
            <a:avLst/>
          </a:prstGeom>
          <a:noFill/>
        </p:spPr>
        <p:txBody>
          <a:bodyPr wrap="square">
            <a:spAutoFit/>
          </a:bodyPr>
          <a:lstStyle/>
          <a:p>
            <a:pPr algn="l">
              <a:lnSpc>
                <a:spcPts val="1080"/>
              </a:lnSpc>
              <a:spcBef>
                <a:spcPts val="0"/>
              </a:spcBef>
              <a:spcAft>
                <a:spcPts val="0"/>
              </a:spcAft>
              <a:defRPr sz="900" b="0">
                <a:solidFill>
                  <a:srgbClr val="8090A8"/>
                </a:solidFill>
                <a:latin typeface="Calibri"/>
              </a:defRPr>
            </a:pPr>
            <a:r>
              <a:t>DeelTech Solutions  |  Confidential</a:t>
            </a:r>
          </a:p>
        </p:txBody>
      </p:sp>
      <p:sp>
        <p:nvSpPr>
          <p:cNvPr id="9" name="TextBox 8"/>
          <p:cNvSpPr txBox="1"/>
          <p:nvPr/>
        </p:nvSpPr>
        <p:spPr>
          <a:xfrm>
            <a:off x="10515600" y="6492240"/>
            <a:ext cx="1371600" cy="320040"/>
          </a:xfrm>
          <a:prstGeom prst="rect">
            <a:avLst/>
          </a:prstGeom>
          <a:noFill/>
        </p:spPr>
        <p:txBody>
          <a:bodyPr wrap="square">
            <a:spAutoFit/>
          </a:bodyPr>
          <a:lstStyle/>
          <a:p>
            <a:pPr algn="r">
              <a:lnSpc>
                <a:spcPts val="1080"/>
              </a:lnSpc>
              <a:spcBef>
                <a:spcPts val="0"/>
              </a:spcBef>
              <a:spcAft>
                <a:spcPts val="0"/>
              </a:spcAft>
              <a:defRPr sz="900" b="0">
                <a:solidFill>
                  <a:srgbClr val="8090A8"/>
                </a:solidFill>
                <a:latin typeface="Calibri"/>
              </a:defRPr>
            </a:pPr>
            <a:r>
              <a:t>3</a:t>
            </a:r>
          </a:p>
        </p:txBody>
      </p:sp>
      <p:sp>
        <p:nvSpPr>
          <p:cNvPr id="10" name="Rectangle 9"/>
          <p:cNvSpPr/>
          <p:nvPr/>
        </p:nvSpPr>
        <p:spPr>
          <a:xfrm>
            <a:off x="685800" y="1463040"/>
            <a:ext cx="5029200" cy="219456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463040"/>
            <a:ext cx="50292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600200"/>
            <a:ext cx="4663440" cy="320040"/>
          </a:xfrm>
          <a:prstGeom prst="rect">
            <a:avLst/>
          </a:prstGeom>
          <a:noFill/>
        </p:spPr>
        <p:txBody>
          <a:bodyPr wrap="square">
            <a:spAutoFit/>
          </a:bodyPr>
          <a:lstStyle/>
          <a:p>
            <a:pPr algn="l">
              <a:lnSpc>
                <a:spcPts val="1800"/>
              </a:lnSpc>
              <a:spcBef>
                <a:spcPts val="0"/>
              </a:spcBef>
              <a:spcAft>
                <a:spcPts val="0"/>
              </a:spcAft>
              <a:defRPr sz="1500" b="1">
                <a:solidFill>
                  <a:srgbClr val="00BCD4"/>
                </a:solidFill>
                <a:latin typeface="Calibri"/>
              </a:defRPr>
            </a:pPr>
            <a:r>
              <a:t>Continuous Integration (CI)</a:t>
            </a:r>
          </a:p>
        </p:txBody>
      </p:sp>
      <p:sp>
        <p:nvSpPr>
          <p:cNvPr id="13" name="TextBox 12"/>
          <p:cNvSpPr txBox="1"/>
          <p:nvPr/>
        </p:nvSpPr>
        <p:spPr>
          <a:xfrm>
            <a:off x="868680" y="1920240"/>
            <a:ext cx="4663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Automatically validate every code change</a:t>
            </a:r>
          </a:p>
        </p:txBody>
      </p:sp>
      <p:sp>
        <p:nvSpPr>
          <p:cNvPr id="14" name="TextBox 13"/>
          <p:cNvSpPr txBox="1"/>
          <p:nvPr/>
        </p:nvSpPr>
        <p:spPr>
          <a:xfrm>
            <a:off x="868680" y="2121408"/>
            <a:ext cx="4663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Run linting and tests on each push</a:t>
            </a:r>
          </a:p>
        </p:txBody>
      </p:sp>
      <p:sp>
        <p:nvSpPr>
          <p:cNvPr id="15" name="TextBox 14"/>
          <p:cNvSpPr txBox="1"/>
          <p:nvPr/>
        </p:nvSpPr>
        <p:spPr>
          <a:xfrm>
            <a:off x="868680" y="2322576"/>
            <a:ext cx="4663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Catch bugs before they reach production</a:t>
            </a:r>
          </a:p>
        </p:txBody>
      </p:sp>
      <p:sp>
        <p:nvSpPr>
          <p:cNvPr id="16" name="TextBox 15"/>
          <p:cNvSpPr txBox="1"/>
          <p:nvPr/>
        </p:nvSpPr>
        <p:spPr>
          <a:xfrm>
            <a:off x="868680" y="2523744"/>
            <a:ext cx="4663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Enforce consistent quality standards</a:t>
            </a:r>
          </a:p>
        </p:txBody>
      </p:sp>
      <p:sp>
        <p:nvSpPr>
          <p:cNvPr id="17" name="Rectangle 16"/>
          <p:cNvSpPr/>
          <p:nvPr/>
        </p:nvSpPr>
        <p:spPr>
          <a:xfrm>
            <a:off x="6400800" y="1463040"/>
            <a:ext cx="5029200" cy="219456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1463040"/>
            <a:ext cx="50292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1600200"/>
            <a:ext cx="4663440" cy="320040"/>
          </a:xfrm>
          <a:prstGeom prst="rect">
            <a:avLst/>
          </a:prstGeom>
          <a:noFill/>
        </p:spPr>
        <p:txBody>
          <a:bodyPr wrap="square">
            <a:spAutoFit/>
          </a:bodyPr>
          <a:lstStyle/>
          <a:p>
            <a:pPr algn="l">
              <a:lnSpc>
                <a:spcPts val="1800"/>
              </a:lnSpc>
              <a:spcBef>
                <a:spcPts val="0"/>
              </a:spcBef>
              <a:spcAft>
                <a:spcPts val="0"/>
              </a:spcAft>
              <a:defRPr sz="1500" b="1">
                <a:solidFill>
                  <a:srgbClr val="00BCD4"/>
                </a:solidFill>
                <a:latin typeface="Calibri"/>
              </a:defRPr>
            </a:pPr>
            <a:r>
              <a:t>Continuous Delivery (CD)</a:t>
            </a:r>
          </a:p>
        </p:txBody>
      </p:sp>
      <p:sp>
        <p:nvSpPr>
          <p:cNvPr id="20" name="TextBox 19"/>
          <p:cNvSpPr txBox="1"/>
          <p:nvPr/>
        </p:nvSpPr>
        <p:spPr>
          <a:xfrm>
            <a:off x="6583680" y="1920240"/>
            <a:ext cx="4663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Automate the deployment pipeline</a:t>
            </a:r>
          </a:p>
        </p:txBody>
      </p:sp>
      <p:sp>
        <p:nvSpPr>
          <p:cNvPr id="21" name="TextBox 20"/>
          <p:cNvSpPr txBox="1"/>
          <p:nvPr/>
        </p:nvSpPr>
        <p:spPr>
          <a:xfrm>
            <a:off x="6583680" y="2121408"/>
            <a:ext cx="4663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Code is always in a deployable state</a:t>
            </a:r>
          </a:p>
        </p:txBody>
      </p:sp>
      <p:sp>
        <p:nvSpPr>
          <p:cNvPr id="22" name="TextBox 21"/>
          <p:cNvSpPr txBox="1"/>
          <p:nvPr/>
        </p:nvSpPr>
        <p:spPr>
          <a:xfrm>
            <a:off x="6583680" y="2322576"/>
            <a:ext cx="4663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Reduce manual deployment errors</a:t>
            </a:r>
          </a:p>
        </p:txBody>
      </p:sp>
      <p:sp>
        <p:nvSpPr>
          <p:cNvPr id="23" name="TextBox 22"/>
          <p:cNvSpPr txBox="1"/>
          <p:nvPr/>
        </p:nvSpPr>
        <p:spPr>
          <a:xfrm>
            <a:off x="6583680" y="2523744"/>
            <a:ext cx="4663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Enable fast, reliable releases</a:t>
            </a:r>
          </a:p>
        </p:txBody>
      </p:sp>
      <p:sp>
        <p:nvSpPr>
          <p:cNvPr id="24" name="Rectangle 23"/>
          <p:cNvSpPr/>
          <p:nvPr/>
        </p:nvSpPr>
        <p:spPr>
          <a:xfrm>
            <a:off x="685800" y="4023360"/>
            <a:ext cx="107442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206240"/>
            <a:ext cx="10744200" cy="457200"/>
          </a:xfrm>
          <a:prstGeom prst="rect">
            <a:avLst/>
          </a:prstGeom>
          <a:noFill/>
        </p:spPr>
        <p:txBody>
          <a:bodyPr wrap="square">
            <a:spAutoFit/>
          </a:bodyPr>
          <a:lstStyle/>
          <a:p>
            <a:pPr algn="l">
              <a:lnSpc>
                <a:spcPts val="2400"/>
              </a:lnSpc>
              <a:spcBef>
                <a:spcPts val="0"/>
              </a:spcBef>
              <a:spcAft>
                <a:spcPts val="0"/>
              </a:spcAft>
              <a:defRPr sz="2000" b="1">
                <a:solidFill>
                  <a:srgbClr val="00BCD4"/>
                </a:solidFill>
                <a:latin typeface="Calibri"/>
              </a:defRPr>
            </a:pPr>
            <a:r>
              <a:t>Why CI/CD for DeelTech?</a:t>
            </a:r>
          </a:p>
        </p:txBody>
      </p:sp>
      <p:sp>
        <p:nvSpPr>
          <p:cNvPr id="26" name="TextBox 25"/>
          <p:cNvSpPr txBox="1"/>
          <p:nvPr/>
        </p:nvSpPr>
        <p:spPr>
          <a:xfrm>
            <a:off x="685800" y="4709160"/>
            <a:ext cx="10744200" cy="1371600"/>
          </a:xfrm>
          <a:prstGeom prst="rect">
            <a:avLst/>
          </a:prstGeom>
          <a:noFill/>
        </p:spPr>
        <p:txBody>
          <a:bodyPr wrap="square">
            <a:spAutoFit/>
          </a:bodyPr>
          <a:lstStyle/>
          <a:p>
            <a:pPr>
              <a:lnSpc>
                <a:spcPts val="1820"/>
              </a:lnSpc>
              <a:spcBef>
                <a:spcPts val="300"/>
              </a:spcBef>
              <a:spcAft>
                <a:spcPts val="600"/>
              </a:spcAft>
            </a:pPr>
            <a:r>
              <a:rPr sz="1400">
                <a:solidFill>
                  <a:srgbClr val="00BCD4"/>
                </a:solidFill>
                <a:latin typeface="Calibri"/>
              </a:rPr>
              <a:t>▸ </a:t>
            </a:r>
            <a:r>
              <a:rPr sz="1400" b="0">
                <a:solidFill>
                  <a:srgbClr val="FFFFFF"/>
                </a:solidFill>
                <a:latin typeface="Calibri"/>
              </a:rPr>
              <a:t>Our BASH script manages user accounts on production systems — bugs can mean security vulnerabilities</a:t>
            </a:r>
          </a:p>
          <a:p>
            <a:pPr>
              <a:lnSpc>
                <a:spcPts val="1820"/>
              </a:lnSpc>
              <a:spcBef>
                <a:spcPts val="300"/>
              </a:spcBef>
              <a:spcAft>
                <a:spcPts val="600"/>
              </a:spcAft>
            </a:pPr>
            <a:r>
              <a:rPr sz="1400">
                <a:solidFill>
                  <a:srgbClr val="00BCD4"/>
                </a:solidFill>
                <a:latin typeface="Calibri"/>
              </a:rPr>
              <a:t>▸ </a:t>
            </a:r>
            <a:r>
              <a:rPr sz="1400" b="0">
                <a:solidFill>
                  <a:srgbClr val="FFFFFF"/>
                </a:solidFill>
                <a:latin typeface="Calibri"/>
              </a:rPr>
              <a:t>Automated checks ensure every change is validated before merging to main</a:t>
            </a:r>
          </a:p>
          <a:p>
            <a:pPr>
              <a:lnSpc>
                <a:spcPts val="1820"/>
              </a:lnSpc>
              <a:spcBef>
                <a:spcPts val="300"/>
              </a:spcBef>
              <a:spcAft>
                <a:spcPts val="600"/>
              </a:spcAft>
            </a:pPr>
            <a:r>
              <a:rPr sz="1400">
                <a:solidFill>
                  <a:srgbClr val="00BCD4"/>
                </a:solidFill>
                <a:latin typeface="Calibri"/>
              </a:rPr>
              <a:t>▸ </a:t>
            </a:r>
            <a:r>
              <a:rPr sz="1400" b="0">
                <a:solidFill>
                  <a:srgbClr val="FFFFFF"/>
                </a:solidFill>
                <a:latin typeface="Calibri"/>
              </a:rPr>
              <a:t>Shifts the team from hoping things work to knowing they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058400" cy="59436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Our Pipeline</a:t>
            </a:r>
          </a:p>
        </p:txBody>
      </p:sp>
      <p:sp>
        <p:nvSpPr>
          <p:cNvPr id="5" name="TextBox 4"/>
          <p:cNvSpPr txBox="1"/>
          <p:nvPr/>
        </p:nvSpPr>
        <p:spPr>
          <a:xfrm>
            <a:off x="685800" y="731520"/>
            <a:ext cx="10058400" cy="365760"/>
          </a:xfrm>
          <a:prstGeom prst="rect">
            <a:avLst/>
          </a:prstGeom>
          <a:noFill/>
        </p:spPr>
        <p:txBody>
          <a:bodyPr wrap="square">
            <a:spAutoFit/>
          </a:bodyPr>
          <a:lstStyle/>
          <a:p>
            <a:pPr algn="l">
              <a:lnSpc>
                <a:spcPts val="1680"/>
              </a:lnSpc>
              <a:spcBef>
                <a:spcPts val="0"/>
              </a:spcBef>
              <a:spcAft>
                <a:spcPts val="0"/>
              </a:spcAft>
              <a:defRPr sz="1400" b="0">
                <a:solidFill>
                  <a:srgbClr val="00BCD4"/>
                </a:solidFill>
                <a:latin typeface="Calibri"/>
              </a:defRPr>
            </a:pPr>
            <a:r>
              <a:t>Three-Stage Validation Workflow</a:t>
            </a:r>
          </a:p>
        </p:txBody>
      </p:sp>
      <p:sp>
        <p:nvSpPr>
          <p:cNvPr id="6" name="Rectangle 5"/>
          <p:cNvSpPr/>
          <p:nvPr/>
        </p:nvSpPr>
        <p:spPr>
          <a:xfrm>
            <a:off x="0" y="6446520"/>
            <a:ext cx="12191695" cy="41148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2743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92240"/>
            <a:ext cx="4572000" cy="320040"/>
          </a:xfrm>
          <a:prstGeom prst="rect">
            <a:avLst/>
          </a:prstGeom>
          <a:noFill/>
        </p:spPr>
        <p:txBody>
          <a:bodyPr wrap="square">
            <a:spAutoFit/>
          </a:bodyPr>
          <a:lstStyle/>
          <a:p>
            <a:pPr algn="l">
              <a:lnSpc>
                <a:spcPts val="1080"/>
              </a:lnSpc>
              <a:spcBef>
                <a:spcPts val="0"/>
              </a:spcBef>
              <a:spcAft>
                <a:spcPts val="0"/>
              </a:spcAft>
              <a:defRPr sz="900" b="0">
                <a:solidFill>
                  <a:srgbClr val="8090A8"/>
                </a:solidFill>
                <a:latin typeface="Calibri"/>
              </a:defRPr>
            </a:pPr>
            <a:r>
              <a:t>DeelTech Solutions  |  Confidential</a:t>
            </a:r>
          </a:p>
        </p:txBody>
      </p:sp>
      <p:sp>
        <p:nvSpPr>
          <p:cNvPr id="9" name="TextBox 8"/>
          <p:cNvSpPr txBox="1"/>
          <p:nvPr/>
        </p:nvSpPr>
        <p:spPr>
          <a:xfrm>
            <a:off x="10515600" y="6492240"/>
            <a:ext cx="1371600" cy="320040"/>
          </a:xfrm>
          <a:prstGeom prst="rect">
            <a:avLst/>
          </a:prstGeom>
          <a:noFill/>
        </p:spPr>
        <p:txBody>
          <a:bodyPr wrap="square">
            <a:spAutoFit/>
          </a:bodyPr>
          <a:lstStyle/>
          <a:p>
            <a:pPr algn="r">
              <a:lnSpc>
                <a:spcPts val="1080"/>
              </a:lnSpc>
              <a:spcBef>
                <a:spcPts val="0"/>
              </a:spcBef>
              <a:spcAft>
                <a:spcPts val="0"/>
              </a:spcAft>
              <a:defRPr sz="900" b="0">
                <a:solidFill>
                  <a:srgbClr val="8090A8"/>
                </a:solidFill>
                <a:latin typeface="Calibri"/>
              </a:defRPr>
            </a:pPr>
            <a:r>
              <a:t>4</a:t>
            </a:r>
          </a:p>
        </p:txBody>
      </p:sp>
      <p:sp>
        <p:nvSpPr>
          <p:cNvPr id="10" name="Rectangle 9"/>
          <p:cNvSpPr/>
          <p:nvPr/>
        </p:nvSpPr>
        <p:spPr>
          <a:xfrm>
            <a:off x="685800" y="1554480"/>
            <a:ext cx="1828800" cy="13716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91640"/>
            <a:ext cx="1828800" cy="365760"/>
          </a:xfrm>
          <a:prstGeom prst="rect">
            <a:avLst/>
          </a:prstGeom>
          <a:noFill/>
        </p:spPr>
        <p:txBody>
          <a:bodyPr wrap="square">
            <a:spAutoFit/>
          </a:bodyPr>
          <a:lstStyle/>
          <a:p>
            <a:pPr algn="ctr">
              <a:lnSpc>
                <a:spcPts val="2160"/>
              </a:lnSpc>
              <a:spcBef>
                <a:spcPts val="0"/>
              </a:spcBef>
              <a:spcAft>
                <a:spcPts val="0"/>
              </a:spcAft>
              <a:defRPr sz="1800" b="1">
                <a:solidFill>
                  <a:srgbClr val="FFFFFF"/>
                </a:solidFill>
                <a:latin typeface="Calibri"/>
              </a:defRPr>
            </a:pPr>
            <a:r>
              <a:t>Push</a:t>
            </a:r>
          </a:p>
        </p:txBody>
      </p:sp>
      <p:sp>
        <p:nvSpPr>
          <p:cNvPr id="12" name="TextBox 11"/>
          <p:cNvSpPr txBox="1"/>
          <p:nvPr/>
        </p:nvSpPr>
        <p:spPr>
          <a:xfrm>
            <a:off x="777240" y="2103120"/>
            <a:ext cx="1645920" cy="731520"/>
          </a:xfrm>
          <a:prstGeom prst="rect">
            <a:avLst/>
          </a:prstGeom>
          <a:noFill/>
        </p:spPr>
        <p:txBody>
          <a:bodyPr wrap="square">
            <a:spAutoFit/>
          </a:bodyPr>
          <a:lstStyle/>
          <a:p>
            <a:pPr algn="ctr">
              <a:lnSpc>
                <a:spcPts val="1439"/>
              </a:lnSpc>
              <a:spcBef>
                <a:spcPts val="0"/>
              </a:spcBef>
              <a:spcAft>
                <a:spcPts val="0"/>
              </a:spcAft>
              <a:defRPr sz="1200" b="0">
                <a:solidFill>
                  <a:srgbClr val="FFFFFF"/>
                </a:solidFill>
                <a:latin typeface="Calibri"/>
              </a:defRPr>
            </a:pPr>
            <a:r>
              <a:t>Developer pushes</a:t>
            </a:r>
            <a:br/>
            <a:r>
              <a:t>code to GitHub</a:t>
            </a:r>
          </a:p>
        </p:txBody>
      </p:sp>
      <p:sp>
        <p:nvSpPr>
          <p:cNvPr id="13" name="TextBox 12"/>
          <p:cNvSpPr txBox="1"/>
          <p:nvPr/>
        </p:nvSpPr>
        <p:spPr>
          <a:xfrm>
            <a:off x="2560320" y="1920240"/>
            <a:ext cx="274320" cy="365760"/>
          </a:xfrm>
          <a:prstGeom prst="rect">
            <a:avLst/>
          </a:prstGeom>
          <a:noFill/>
        </p:spPr>
        <p:txBody>
          <a:bodyPr wrap="square">
            <a:spAutoFit/>
          </a:bodyPr>
          <a:lstStyle/>
          <a:p>
            <a:pPr algn="ctr">
              <a:lnSpc>
                <a:spcPts val="2400"/>
              </a:lnSpc>
              <a:spcBef>
                <a:spcPts val="0"/>
              </a:spcBef>
              <a:spcAft>
                <a:spcPts val="0"/>
              </a:spcAft>
              <a:defRPr sz="2000" b="1">
                <a:solidFill>
                  <a:srgbClr val="00BCD4"/>
                </a:solidFill>
                <a:latin typeface="Calibri"/>
              </a:defRPr>
            </a:pPr>
            <a:r>
              <a:t>▶</a:t>
            </a:r>
          </a:p>
        </p:txBody>
      </p:sp>
      <p:sp>
        <p:nvSpPr>
          <p:cNvPr id="14" name="Rectangle 13"/>
          <p:cNvSpPr/>
          <p:nvPr/>
        </p:nvSpPr>
        <p:spPr>
          <a:xfrm>
            <a:off x="2880360" y="1554480"/>
            <a:ext cx="1828800" cy="1371600"/>
          </a:xfrm>
          <a:prstGeom prst="rect">
            <a:avLst/>
          </a:prstGeom>
          <a:solidFill>
            <a:srgbClr val="0096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1691640"/>
            <a:ext cx="1828800" cy="365760"/>
          </a:xfrm>
          <a:prstGeom prst="rect">
            <a:avLst/>
          </a:prstGeom>
          <a:noFill/>
        </p:spPr>
        <p:txBody>
          <a:bodyPr wrap="square">
            <a:spAutoFit/>
          </a:bodyPr>
          <a:lstStyle/>
          <a:p>
            <a:pPr algn="ctr">
              <a:lnSpc>
                <a:spcPts val="2160"/>
              </a:lnSpc>
              <a:spcBef>
                <a:spcPts val="0"/>
              </a:spcBef>
              <a:spcAft>
                <a:spcPts val="0"/>
              </a:spcAft>
              <a:defRPr sz="1800" b="1">
                <a:solidFill>
                  <a:srgbClr val="FFFFFF"/>
                </a:solidFill>
                <a:latin typeface="Calibri"/>
              </a:defRPr>
            </a:pPr>
            <a:r>
              <a:t>Lint</a:t>
            </a:r>
          </a:p>
        </p:txBody>
      </p:sp>
      <p:sp>
        <p:nvSpPr>
          <p:cNvPr id="16" name="TextBox 15"/>
          <p:cNvSpPr txBox="1"/>
          <p:nvPr/>
        </p:nvSpPr>
        <p:spPr>
          <a:xfrm>
            <a:off x="2971800" y="2103120"/>
            <a:ext cx="1645920" cy="731520"/>
          </a:xfrm>
          <a:prstGeom prst="rect">
            <a:avLst/>
          </a:prstGeom>
          <a:noFill/>
        </p:spPr>
        <p:txBody>
          <a:bodyPr wrap="square">
            <a:spAutoFit/>
          </a:bodyPr>
          <a:lstStyle/>
          <a:p>
            <a:pPr algn="ctr">
              <a:lnSpc>
                <a:spcPts val="1439"/>
              </a:lnSpc>
              <a:spcBef>
                <a:spcPts val="0"/>
              </a:spcBef>
              <a:spcAft>
                <a:spcPts val="0"/>
              </a:spcAft>
              <a:defRPr sz="1200" b="0">
                <a:solidFill>
                  <a:srgbClr val="FFFFFF"/>
                </a:solidFill>
                <a:latin typeface="Calibri"/>
              </a:defRPr>
            </a:pPr>
            <a:r>
              <a:t>ShellCheck static</a:t>
            </a:r>
            <a:br/>
            <a:r>
              <a:t>analysis</a:t>
            </a:r>
          </a:p>
        </p:txBody>
      </p:sp>
      <p:sp>
        <p:nvSpPr>
          <p:cNvPr id="17" name="TextBox 16"/>
          <p:cNvSpPr txBox="1"/>
          <p:nvPr/>
        </p:nvSpPr>
        <p:spPr>
          <a:xfrm>
            <a:off x="4754880" y="1920240"/>
            <a:ext cx="274320" cy="365760"/>
          </a:xfrm>
          <a:prstGeom prst="rect">
            <a:avLst/>
          </a:prstGeom>
          <a:noFill/>
        </p:spPr>
        <p:txBody>
          <a:bodyPr wrap="square">
            <a:spAutoFit/>
          </a:bodyPr>
          <a:lstStyle/>
          <a:p>
            <a:pPr algn="ctr">
              <a:lnSpc>
                <a:spcPts val="2400"/>
              </a:lnSpc>
              <a:spcBef>
                <a:spcPts val="0"/>
              </a:spcBef>
              <a:spcAft>
                <a:spcPts val="0"/>
              </a:spcAft>
              <a:defRPr sz="2000" b="1">
                <a:solidFill>
                  <a:srgbClr val="00BCD4"/>
                </a:solidFill>
                <a:latin typeface="Calibri"/>
              </a:defRPr>
            </a:pPr>
            <a:r>
              <a:t>▶</a:t>
            </a:r>
          </a:p>
        </p:txBody>
      </p:sp>
      <p:sp>
        <p:nvSpPr>
          <p:cNvPr id="18" name="Rectangle 17"/>
          <p:cNvSpPr/>
          <p:nvPr/>
        </p:nvSpPr>
        <p:spPr>
          <a:xfrm>
            <a:off x="5074920" y="1554480"/>
            <a:ext cx="1828800" cy="137160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74920" y="1691640"/>
            <a:ext cx="1828800" cy="365760"/>
          </a:xfrm>
          <a:prstGeom prst="rect">
            <a:avLst/>
          </a:prstGeom>
          <a:noFill/>
        </p:spPr>
        <p:txBody>
          <a:bodyPr wrap="square">
            <a:spAutoFit/>
          </a:bodyPr>
          <a:lstStyle/>
          <a:p>
            <a:pPr algn="ctr">
              <a:lnSpc>
                <a:spcPts val="2160"/>
              </a:lnSpc>
              <a:spcBef>
                <a:spcPts val="0"/>
              </a:spcBef>
              <a:spcAft>
                <a:spcPts val="0"/>
              </a:spcAft>
              <a:defRPr sz="1800" b="1">
                <a:solidFill>
                  <a:srgbClr val="FFFFFF"/>
                </a:solidFill>
                <a:latin typeface="Calibri"/>
              </a:defRPr>
            </a:pPr>
            <a:r>
              <a:t>Test</a:t>
            </a:r>
          </a:p>
        </p:txBody>
      </p:sp>
      <p:sp>
        <p:nvSpPr>
          <p:cNvPr id="20" name="TextBox 19"/>
          <p:cNvSpPr txBox="1"/>
          <p:nvPr/>
        </p:nvSpPr>
        <p:spPr>
          <a:xfrm>
            <a:off x="5166360" y="2103120"/>
            <a:ext cx="1645920" cy="731520"/>
          </a:xfrm>
          <a:prstGeom prst="rect">
            <a:avLst/>
          </a:prstGeom>
          <a:noFill/>
        </p:spPr>
        <p:txBody>
          <a:bodyPr wrap="square">
            <a:spAutoFit/>
          </a:bodyPr>
          <a:lstStyle/>
          <a:p>
            <a:pPr algn="ctr">
              <a:lnSpc>
                <a:spcPts val="1439"/>
              </a:lnSpc>
              <a:spcBef>
                <a:spcPts val="0"/>
              </a:spcBef>
              <a:spcAft>
                <a:spcPts val="0"/>
              </a:spcAft>
              <a:defRPr sz="1200" b="0">
                <a:solidFill>
                  <a:srgbClr val="FFFFFF"/>
                </a:solidFill>
                <a:latin typeface="Calibri"/>
              </a:defRPr>
            </a:pPr>
            <a:r>
              <a:t>Syntax validation</a:t>
            </a:r>
            <a:br/>
            <a:r>
              <a:t>&amp; function checks</a:t>
            </a:r>
          </a:p>
        </p:txBody>
      </p:sp>
      <p:sp>
        <p:nvSpPr>
          <p:cNvPr id="21" name="TextBox 20"/>
          <p:cNvSpPr txBox="1"/>
          <p:nvPr/>
        </p:nvSpPr>
        <p:spPr>
          <a:xfrm>
            <a:off x="6949440" y="1920240"/>
            <a:ext cx="274320" cy="365760"/>
          </a:xfrm>
          <a:prstGeom prst="rect">
            <a:avLst/>
          </a:prstGeom>
          <a:noFill/>
        </p:spPr>
        <p:txBody>
          <a:bodyPr wrap="square">
            <a:spAutoFit/>
          </a:bodyPr>
          <a:lstStyle/>
          <a:p>
            <a:pPr algn="ctr">
              <a:lnSpc>
                <a:spcPts val="2400"/>
              </a:lnSpc>
              <a:spcBef>
                <a:spcPts val="0"/>
              </a:spcBef>
              <a:spcAft>
                <a:spcPts val="0"/>
              </a:spcAft>
              <a:defRPr sz="2000" b="1">
                <a:solidFill>
                  <a:srgbClr val="00BCD4"/>
                </a:solidFill>
                <a:latin typeface="Calibri"/>
              </a:defRPr>
            </a:pPr>
            <a:r>
              <a:t>▶</a:t>
            </a:r>
          </a:p>
        </p:txBody>
      </p:sp>
      <p:sp>
        <p:nvSpPr>
          <p:cNvPr id="22" name="Rectangle 21"/>
          <p:cNvSpPr/>
          <p:nvPr/>
        </p:nvSpPr>
        <p:spPr>
          <a:xfrm>
            <a:off x="7269480" y="1554480"/>
            <a:ext cx="1828800" cy="13716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1691640"/>
            <a:ext cx="1828800" cy="365760"/>
          </a:xfrm>
          <a:prstGeom prst="rect">
            <a:avLst/>
          </a:prstGeom>
          <a:noFill/>
        </p:spPr>
        <p:txBody>
          <a:bodyPr wrap="square">
            <a:spAutoFit/>
          </a:bodyPr>
          <a:lstStyle/>
          <a:p>
            <a:pPr algn="ctr">
              <a:lnSpc>
                <a:spcPts val="2160"/>
              </a:lnSpc>
              <a:spcBef>
                <a:spcPts val="0"/>
              </a:spcBef>
              <a:spcAft>
                <a:spcPts val="0"/>
              </a:spcAft>
              <a:defRPr sz="1800" b="1">
                <a:solidFill>
                  <a:srgbClr val="FFFFFF"/>
                </a:solidFill>
                <a:latin typeface="Calibri"/>
              </a:defRPr>
            </a:pPr>
            <a:r>
              <a:t>Review</a:t>
            </a:r>
          </a:p>
        </p:txBody>
      </p:sp>
      <p:sp>
        <p:nvSpPr>
          <p:cNvPr id="24" name="TextBox 23"/>
          <p:cNvSpPr txBox="1"/>
          <p:nvPr/>
        </p:nvSpPr>
        <p:spPr>
          <a:xfrm>
            <a:off x="7360920" y="2103120"/>
            <a:ext cx="1645920" cy="731520"/>
          </a:xfrm>
          <a:prstGeom prst="rect">
            <a:avLst/>
          </a:prstGeom>
          <a:noFill/>
        </p:spPr>
        <p:txBody>
          <a:bodyPr wrap="square">
            <a:spAutoFit/>
          </a:bodyPr>
          <a:lstStyle/>
          <a:p>
            <a:pPr algn="ctr">
              <a:lnSpc>
                <a:spcPts val="1439"/>
              </a:lnSpc>
              <a:spcBef>
                <a:spcPts val="0"/>
              </a:spcBef>
              <a:spcAft>
                <a:spcPts val="0"/>
              </a:spcAft>
              <a:defRPr sz="1200" b="0">
                <a:solidFill>
                  <a:srgbClr val="FFFFFF"/>
                </a:solidFill>
                <a:latin typeface="Calibri"/>
              </a:defRPr>
            </a:pPr>
            <a:r>
              <a:t>Pull request</a:t>
            </a:r>
            <a:br/>
            <a:r>
              <a:t>code review</a:t>
            </a:r>
          </a:p>
        </p:txBody>
      </p:sp>
      <p:sp>
        <p:nvSpPr>
          <p:cNvPr id="25" name="TextBox 24"/>
          <p:cNvSpPr txBox="1"/>
          <p:nvPr/>
        </p:nvSpPr>
        <p:spPr>
          <a:xfrm>
            <a:off x="9144000" y="1920240"/>
            <a:ext cx="274320" cy="365760"/>
          </a:xfrm>
          <a:prstGeom prst="rect">
            <a:avLst/>
          </a:prstGeom>
          <a:noFill/>
        </p:spPr>
        <p:txBody>
          <a:bodyPr wrap="square">
            <a:spAutoFit/>
          </a:bodyPr>
          <a:lstStyle/>
          <a:p>
            <a:pPr algn="ctr">
              <a:lnSpc>
                <a:spcPts val="2400"/>
              </a:lnSpc>
              <a:spcBef>
                <a:spcPts val="0"/>
              </a:spcBef>
              <a:spcAft>
                <a:spcPts val="0"/>
              </a:spcAft>
              <a:defRPr sz="2000" b="1">
                <a:solidFill>
                  <a:srgbClr val="00BCD4"/>
                </a:solidFill>
                <a:latin typeface="Calibri"/>
              </a:defRPr>
            </a:pPr>
            <a:r>
              <a:t>▶</a:t>
            </a:r>
          </a:p>
        </p:txBody>
      </p:sp>
      <p:sp>
        <p:nvSpPr>
          <p:cNvPr id="26" name="Rectangle 25"/>
          <p:cNvSpPr/>
          <p:nvPr/>
        </p:nvSpPr>
        <p:spPr>
          <a:xfrm>
            <a:off x="9464040" y="1554480"/>
            <a:ext cx="1828800"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64040" y="1691640"/>
            <a:ext cx="1828800" cy="365760"/>
          </a:xfrm>
          <a:prstGeom prst="rect">
            <a:avLst/>
          </a:prstGeom>
          <a:noFill/>
        </p:spPr>
        <p:txBody>
          <a:bodyPr wrap="square">
            <a:spAutoFit/>
          </a:bodyPr>
          <a:lstStyle/>
          <a:p>
            <a:pPr algn="ctr">
              <a:lnSpc>
                <a:spcPts val="2160"/>
              </a:lnSpc>
              <a:spcBef>
                <a:spcPts val="0"/>
              </a:spcBef>
              <a:spcAft>
                <a:spcPts val="0"/>
              </a:spcAft>
              <a:defRPr sz="1800" b="1">
                <a:solidFill>
                  <a:srgbClr val="FFFFFF"/>
                </a:solidFill>
                <a:latin typeface="Calibri"/>
              </a:defRPr>
            </a:pPr>
            <a:r>
              <a:t>Deploy</a:t>
            </a:r>
          </a:p>
        </p:txBody>
      </p:sp>
      <p:sp>
        <p:nvSpPr>
          <p:cNvPr id="28" name="TextBox 27"/>
          <p:cNvSpPr txBox="1"/>
          <p:nvPr/>
        </p:nvSpPr>
        <p:spPr>
          <a:xfrm>
            <a:off x="9555480" y="2103120"/>
            <a:ext cx="1645920" cy="731520"/>
          </a:xfrm>
          <a:prstGeom prst="rect">
            <a:avLst/>
          </a:prstGeom>
          <a:noFill/>
        </p:spPr>
        <p:txBody>
          <a:bodyPr wrap="square">
            <a:spAutoFit/>
          </a:bodyPr>
          <a:lstStyle/>
          <a:p>
            <a:pPr algn="ctr">
              <a:lnSpc>
                <a:spcPts val="1439"/>
              </a:lnSpc>
              <a:spcBef>
                <a:spcPts val="0"/>
              </a:spcBef>
              <a:spcAft>
                <a:spcPts val="0"/>
              </a:spcAft>
              <a:defRPr sz="1200" b="0">
                <a:solidFill>
                  <a:srgbClr val="FFFFFF"/>
                </a:solidFill>
                <a:latin typeface="Calibri"/>
              </a:defRPr>
            </a:pPr>
            <a:r>
              <a:t>SSH to target</a:t>
            </a:r>
            <a:br/>
            <a:r>
              <a:t>VM (manual)</a:t>
            </a:r>
          </a:p>
        </p:txBody>
      </p:sp>
      <p:sp>
        <p:nvSpPr>
          <p:cNvPr id="29" name="Rectangle 28"/>
          <p:cNvSpPr/>
          <p:nvPr/>
        </p:nvSpPr>
        <p:spPr>
          <a:xfrm>
            <a:off x="685800" y="3383280"/>
            <a:ext cx="3383280" cy="25603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3383280"/>
            <a:ext cx="33832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3520440"/>
            <a:ext cx="3017520" cy="320040"/>
          </a:xfrm>
          <a:prstGeom prst="rect">
            <a:avLst/>
          </a:prstGeom>
          <a:noFill/>
        </p:spPr>
        <p:txBody>
          <a:bodyPr wrap="square">
            <a:spAutoFit/>
          </a:bodyPr>
          <a:lstStyle/>
          <a:p>
            <a:pPr algn="l">
              <a:lnSpc>
                <a:spcPts val="1800"/>
              </a:lnSpc>
              <a:spcBef>
                <a:spcPts val="0"/>
              </a:spcBef>
              <a:spcAft>
                <a:spcPts val="0"/>
              </a:spcAft>
              <a:defRPr sz="1500" b="1">
                <a:solidFill>
                  <a:srgbClr val="00BCD4"/>
                </a:solidFill>
                <a:latin typeface="Calibri"/>
              </a:defRPr>
            </a:pPr>
            <a:r>
              <a:t>Stage 1: Lint (ShellCheck)</a:t>
            </a:r>
          </a:p>
        </p:txBody>
      </p:sp>
      <p:sp>
        <p:nvSpPr>
          <p:cNvPr id="32" name="TextBox 31"/>
          <p:cNvSpPr txBox="1"/>
          <p:nvPr/>
        </p:nvSpPr>
        <p:spPr>
          <a:xfrm>
            <a:off x="868680" y="3840480"/>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Runs on all .sh files</a:t>
            </a:r>
          </a:p>
        </p:txBody>
      </p:sp>
      <p:sp>
        <p:nvSpPr>
          <p:cNvPr id="33" name="TextBox 32"/>
          <p:cNvSpPr txBox="1"/>
          <p:nvPr/>
        </p:nvSpPr>
        <p:spPr>
          <a:xfrm>
            <a:off x="868680" y="4041648"/>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Catches unquoted variables</a:t>
            </a:r>
          </a:p>
        </p:txBody>
      </p:sp>
      <p:sp>
        <p:nvSpPr>
          <p:cNvPr id="34" name="TextBox 33"/>
          <p:cNvSpPr txBox="1"/>
          <p:nvPr/>
        </p:nvSpPr>
        <p:spPr>
          <a:xfrm>
            <a:off x="868680" y="4242816"/>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Detects unsafe patterns</a:t>
            </a:r>
          </a:p>
        </p:txBody>
      </p:sp>
      <p:sp>
        <p:nvSpPr>
          <p:cNvPr id="35" name="TextBox 34"/>
          <p:cNvSpPr txBox="1"/>
          <p:nvPr/>
        </p:nvSpPr>
        <p:spPr>
          <a:xfrm>
            <a:off x="868680" y="4443984"/>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Flags style issues</a:t>
            </a:r>
          </a:p>
        </p:txBody>
      </p:sp>
      <p:sp>
        <p:nvSpPr>
          <p:cNvPr id="36" name="TextBox 35"/>
          <p:cNvSpPr txBox="1"/>
          <p:nvPr/>
        </p:nvSpPr>
        <p:spPr>
          <a:xfrm>
            <a:off x="868680" y="4645152"/>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Must pass before tests run</a:t>
            </a:r>
          </a:p>
        </p:txBody>
      </p:sp>
      <p:sp>
        <p:nvSpPr>
          <p:cNvPr id="37" name="Rectangle 36"/>
          <p:cNvSpPr/>
          <p:nvPr/>
        </p:nvSpPr>
        <p:spPr>
          <a:xfrm>
            <a:off x="4389120" y="3383280"/>
            <a:ext cx="3383280" cy="25603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389120" y="3383280"/>
            <a:ext cx="33832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0" y="3520440"/>
            <a:ext cx="3017520" cy="320040"/>
          </a:xfrm>
          <a:prstGeom prst="rect">
            <a:avLst/>
          </a:prstGeom>
          <a:noFill/>
        </p:spPr>
        <p:txBody>
          <a:bodyPr wrap="square">
            <a:spAutoFit/>
          </a:bodyPr>
          <a:lstStyle/>
          <a:p>
            <a:pPr algn="l">
              <a:lnSpc>
                <a:spcPts val="1800"/>
              </a:lnSpc>
              <a:spcBef>
                <a:spcPts val="0"/>
              </a:spcBef>
              <a:spcAft>
                <a:spcPts val="0"/>
              </a:spcAft>
              <a:defRPr sz="1500" b="1">
                <a:solidFill>
                  <a:srgbClr val="00BCD4"/>
                </a:solidFill>
                <a:latin typeface="Calibri"/>
              </a:defRPr>
            </a:pPr>
            <a:r>
              <a:t>Stage 2: Test (Validation)</a:t>
            </a:r>
          </a:p>
        </p:txBody>
      </p:sp>
      <p:sp>
        <p:nvSpPr>
          <p:cNvPr id="40" name="TextBox 39"/>
          <p:cNvSpPr txBox="1"/>
          <p:nvPr/>
        </p:nvSpPr>
        <p:spPr>
          <a:xfrm>
            <a:off x="4572000" y="3840480"/>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bash -n syntax checking</a:t>
            </a:r>
          </a:p>
        </p:txBody>
      </p:sp>
      <p:sp>
        <p:nvSpPr>
          <p:cNvPr id="41" name="TextBox 40"/>
          <p:cNvSpPr txBox="1"/>
          <p:nvPr/>
        </p:nvSpPr>
        <p:spPr>
          <a:xfrm>
            <a:off x="4572000" y="4041648"/>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File permission verification</a:t>
            </a:r>
          </a:p>
        </p:txBody>
      </p:sp>
      <p:sp>
        <p:nvSpPr>
          <p:cNvPr id="42" name="TextBox 41"/>
          <p:cNvSpPr txBox="1"/>
          <p:nvPr/>
        </p:nvSpPr>
        <p:spPr>
          <a:xfrm>
            <a:off x="4572000" y="4242816"/>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Required function detection</a:t>
            </a:r>
          </a:p>
        </p:txBody>
      </p:sp>
      <p:sp>
        <p:nvSpPr>
          <p:cNvPr id="43" name="TextBox 42"/>
          <p:cNvSpPr txBox="1"/>
          <p:nvPr/>
        </p:nvSpPr>
        <p:spPr>
          <a:xfrm>
            <a:off x="4572000" y="4443984"/>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Configuration variable checks</a:t>
            </a:r>
          </a:p>
        </p:txBody>
      </p:sp>
      <p:sp>
        <p:nvSpPr>
          <p:cNvPr id="44" name="TextBox 43"/>
          <p:cNvSpPr txBox="1"/>
          <p:nvPr/>
        </p:nvSpPr>
        <p:spPr>
          <a:xfrm>
            <a:off x="4572000" y="4645152"/>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All 6 core functions validated</a:t>
            </a:r>
          </a:p>
        </p:txBody>
      </p:sp>
      <p:sp>
        <p:nvSpPr>
          <p:cNvPr id="45" name="Rectangle 44"/>
          <p:cNvSpPr/>
          <p:nvPr/>
        </p:nvSpPr>
        <p:spPr>
          <a:xfrm>
            <a:off x="8092440" y="3383280"/>
            <a:ext cx="3383280" cy="25603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092440" y="3383280"/>
            <a:ext cx="33832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75320" y="3520440"/>
            <a:ext cx="3017520" cy="320040"/>
          </a:xfrm>
          <a:prstGeom prst="rect">
            <a:avLst/>
          </a:prstGeom>
          <a:noFill/>
        </p:spPr>
        <p:txBody>
          <a:bodyPr wrap="square">
            <a:spAutoFit/>
          </a:bodyPr>
          <a:lstStyle/>
          <a:p>
            <a:pPr algn="l">
              <a:lnSpc>
                <a:spcPts val="1800"/>
              </a:lnSpc>
              <a:spcBef>
                <a:spcPts val="0"/>
              </a:spcBef>
              <a:spcAft>
                <a:spcPts val="0"/>
              </a:spcAft>
              <a:defRPr sz="1500" b="1">
                <a:solidFill>
                  <a:srgbClr val="00BCD4"/>
                </a:solidFill>
                <a:latin typeface="Calibri"/>
              </a:defRPr>
            </a:pPr>
            <a:r>
              <a:t>Stage 3: Deploy</a:t>
            </a:r>
          </a:p>
        </p:txBody>
      </p:sp>
      <p:sp>
        <p:nvSpPr>
          <p:cNvPr id="48" name="TextBox 47"/>
          <p:cNvSpPr txBox="1"/>
          <p:nvPr/>
        </p:nvSpPr>
        <p:spPr>
          <a:xfrm>
            <a:off x="8275320" y="3840480"/>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Configured for SSH deployment</a:t>
            </a:r>
          </a:p>
        </p:txBody>
      </p:sp>
      <p:sp>
        <p:nvSpPr>
          <p:cNvPr id="49" name="TextBox 48"/>
          <p:cNvSpPr txBox="1"/>
          <p:nvPr/>
        </p:nvSpPr>
        <p:spPr>
          <a:xfrm>
            <a:off x="8275320" y="4041648"/>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Targets Ubuntu 24.04 VM</a:t>
            </a:r>
          </a:p>
        </p:txBody>
      </p:sp>
      <p:sp>
        <p:nvSpPr>
          <p:cNvPr id="50" name="TextBox 49"/>
          <p:cNvSpPr txBox="1"/>
          <p:nvPr/>
        </p:nvSpPr>
        <p:spPr>
          <a:xfrm>
            <a:off x="8275320" y="4242816"/>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Manual trigger (production)</a:t>
            </a:r>
          </a:p>
        </p:txBody>
      </p:sp>
      <p:sp>
        <p:nvSpPr>
          <p:cNvPr id="51" name="TextBox 50"/>
          <p:cNvSpPr txBox="1"/>
          <p:nvPr/>
        </p:nvSpPr>
        <p:spPr>
          <a:xfrm>
            <a:off x="8275320" y="4443984"/>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Uses appleboy/ssh-action</a:t>
            </a:r>
          </a:p>
        </p:txBody>
      </p:sp>
      <p:sp>
        <p:nvSpPr>
          <p:cNvPr id="52" name="TextBox 51"/>
          <p:cNvSpPr txBox="1"/>
          <p:nvPr/>
        </p:nvSpPr>
        <p:spPr>
          <a:xfrm>
            <a:off x="8275320" y="4645152"/>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Post-deploy syntax verify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058400" cy="59436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CI/CD in Action</a:t>
            </a:r>
          </a:p>
        </p:txBody>
      </p:sp>
      <p:sp>
        <p:nvSpPr>
          <p:cNvPr id="5" name="TextBox 4"/>
          <p:cNvSpPr txBox="1"/>
          <p:nvPr/>
        </p:nvSpPr>
        <p:spPr>
          <a:xfrm>
            <a:off x="685800" y="731520"/>
            <a:ext cx="10058400" cy="365760"/>
          </a:xfrm>
          <a:prstGeom prst="rect">
            <a:avLst/>
          </a:prstGeom>
          <a:noFill/>
        </p:spPr>
        <p:txBody>
          <a:bodyPr wrap="square">
            <a:spAutoFit/>
          </a:bodyPr>
          <a:lstStyle/>
          <a:p>
            <a:pPr algn="l">
              <a:lnSpc>
                <a:spcPts val="1680"/>
              </a:lnSpc>
              <a:spcBef>
                <a:spcPts val="0"/>
              </a:spcBef>
              <a:spcAft>
                <a:spcPts val="0"/>
              </a:spcAft>
              <a:defRPr sz="1400" b="0">
                <a:solidFill>
                  <a:srgbClr val="00BCD4"/>
                </a:solidFill>
                <a:latin typeface="Calibri"/>
              </a:defRPr>
            </a:pPr>
            <a:r>
              <a:t>GitHub Actions Workflow</a:t>
            </a:r>
          </a:p>
        </p:txBody>
      </p:sp>
      <p:sp>
        <p:nvSpPr>
          <p:cNvPr id="6" name="Rectangle 5"/>
          <p:cNvSpPr/>
          <p:nvPr/>
        </p:nvSpPr>
        <p:spPr>
          <a:xfrm>
            <a:off x="0" y="6446520"/>
            <a:ext cx="12191695" cy="41148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2743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92240"/>
            <a:ext cx="4572000" cy="320040"/>
          </a:xfrm>
          <a:prstGeom prst="rect">
            <a:avLst/>
          </a:prstGeom>
          <a:noFill/>
        </p:spPr>
        <p:txBody>
          <a:bodyPr wrap="square">
            <a:spAutoFit/>
          </a:bodyPr>
          <a:lstStyle/>
          <a:p>
            <a:pPr algn="l">
              <a:lnSpc>
                <a:spcPts val="1080"/>
              </a:lnSpc>
              <a:spcBef>
                <a:spcPts val="0"/>
              </a:spcBef>
              <a:spcAft>
                <a:spcPts val="0"/>
              </a:spcAft>
              <a:defRPr sz="900" b="0">
                <a:solidFill>
                  <a:srgbClr val="8090A8"/>
                </a:solidFill>
                <a:latin typeface="Calibri"/>
              </a:defRPr>
            </a:pPr>
            <a:r>
              <a:t>DeelTech Solutions  |  Confidential</a:t>
            </a:r>
          </a:p>
        </p:txBody>
      </p:sp>
      <p:sp>
        <p:nvSpPr>
          <p:cNvPr id="9" name="TextBox 8"/>
          <p:cNvSpPr txBox="1"/>
          <p:nvPr/>
        </p:nvSpPr>
        <p:spPr>
          <a:xfrm>
            <a:off x="10515600" y="6492240"/>
            <a:ext cx="1371600" cy="320040"/>
          </a:xfrm>
          <a:prstGeom prst="rect">
            <a:avLst/>
          </a:prstGeom>
          <a:noFill/>
        </p:spPr>
        <p:txBody>
          <a:bodyPr wrap="square">
            <a:spAutoFit/>
          </a:bodyPr>
          <a:lstStyle/>
          <a:p>
            <a:pPr algn="r">
              <a:lnSpc>
                <a:spcPts val="1080"/>
              </a:lnSpc>
              <a:spcBef>
                <a:spcPts val="0"/>
              </a:spcBef>
              <a:spcAft>
                <a:spcPts val="0"/>
              </a:spcAft>
              <a:defRPr sz="900" b="0">
                <a:solidFill>
                  <a:srgbClr val="8090A8"/>
                </a:solidFill>
                <a:latin typeface="Calibri"/>
              </a:defRPr>
            </a:pPr>
            <a:r>
              <a:t>5</a:t>
            </a:r>
          </a:p>
        </p:txBody>
      </p:sp>
      <p:sp>
        <p:nvSpPr>
          <p:cNvPr id="10" name="TextBox 9"/>
          <p:cNvSpPr txBox="1"/>
          <p:nvPr/>
        </p:nvSpPr>
        <p:spPr>
          <a:xfrm>
            <a:off x="685800" y="1371600"/>
            <a:ext cx="5029200" cy="365760"/>
          </a:xfrm>
          <a:prstGeom prst="rect">
            <a:avLst/>
          </a:prstGeom>
          <a:noFill/>
        </p:spPr>
        <p:txBody>
          <a:bodyPr wrap="square">
            <a:spAutoFit/>
          </a:bodyPr>
          <a:lstStyle/>
          <a:p>
            <a:pPr algn="l">
              <a:lnSpc>
                <a:spcPts val="2400"/>
              </a:lnSpc>
              <a:spcBef>
                <a:spcPts val="0"/>
              </a:spcBef>
              <a:spcAft>
                <a:spcPts val="0"/>
              </a:spcAft>
              <a:defRPr sz="2000" b="1">
                <a:solidFill>
                  <a:srgbClr val="00BCD4"/>
                </a:solidFill>
                <a:latin typeface="Calibri"/>
              </a:defRPr>
            </a:pPr>
            <a:r>
              <a:t>Workflow Triggers</a:t>
            </a:r>
          </a:p>
        </p:txBody>
      </p:sp>
      <p:sp>
        <p:nvSpPr>
          <p:cNvPr id="11" name="TextBox 10"/>
          <p:cNvSpPr txBox="1"/>
          <p:nvPr/>
        </p:nvSpPr>
        <p:spPr>
          <a:xfrm>
            <a:off x="685800" y="1828800"/>
            <a:ext cx="5029200" cy="1828800"/>
          </a:xfrm>
          <a:prstGeom prst="rect">
            <a:avLst/>
          </a:prstGeom>
          <a:noFill/>
        </p:spPr>
        <p:txBody>
          <a:bodyPr wrap="square">
            <a:spAutoFit/>
          </a:bodyPr>
          <a:lstStyle/>
          <a:p>
            <a:pPr>
              <a:lnSpc>
                <a:spcPts val="1959"/>
              </a:lnSpc>
              <a:spcBef>
                <a:spcPts val="400"/>
              </a:spcBef>
              <a:spcAft>
                <a:spcPts val="800"/>
              </a:spcAft>
            </a:pPr>
            <a:r>
              <a:rPr sz="1400" b="1">
                <a:solidFill>
                  <a:srgbClr val="00BCD4"/>
                </a:solidFill>
                <a:latin typeface="Calibri"/>
              </a:rPr>
              <a:t>Push to main  </a:t>
            </a:r>
            <a:r>
              <a:rPr sz="1400" b="0">
                <a:solidFill>
                  <a:srgbClr val="FFFFFF"/>
                </a:solidFill>
                <a:latin typeface="Calibri"/>
              </a:rPr>
              <a:t>—  full pipeline runs on every merge</a:t>
            </a:r>
          </a:p>
          <a:p>
            <a:pPr>
              <a:lnSpc>
                <a:spcPts val="1959"/>
              </a:lnSpc>
              <a:spcBef>
                <a:spcPts val="400"/>
              </a:spcBef>
              <a:spcAft>
                <a:spcPts val="800"/>
              </a:spcAft>
            </a:pPr>
            <a:r>
              <a:rPr sz="1400" b="1">
                <a:solidFill>
                  <a:srgbClr val="00BCD4"/>
                </a:solidFill>
                <a:latin typeface="Calibri"/>
              </a:rPr>
              <a:t>Push to develop  </a:t>
            </a:r>
            <a:r>
              <a:rPr sz="1400" b="0">
                <a:solidFill>
                  <a:srgbClr val="FFFFFF"/>
                </a:solidFill>
                <a:latin typeface="Calibri"/>
              </a:rPr>
              <a:t>—  validates feature work in progress</a:t>
            </a:r>
          </a:p>
          <a:p>
            <a:pPr>
              <a:lnSpc>
                <a:spcPts val="1959"/>
              </a:lnSpc>
              <a:spcBef>
                <a:spcPts val="400"/>
              </a:spcBef>
              <a:spcAft>
                <a:spcPts val="800"/>
              </a:spcAft>
            </a:pPr>
            <a:r>
              <a:rPr sz="1400" b="1">
                <a:solidFill>
                  <a:srgbClr val="00BCD4"/>
                </a:solidFill>
                <a:latin typeface="Calibri"/>
              </a:rPr>
              <a:t>Pull requests to main  </a:t>
            </a:r>
            <a:r>
              <a:rPr sz="1400" b="0">
                <a:solidFill>
                  <a:srgbClr val="FFFFFF"/>
                </a:solidFill>
                <a:latin typeface="Calibri"/>
              </a:rPr>
              <a:t>—  gate check before merging</a:t>
            </a:r>
          </a:p>
        </p:txBody>
      </p:sp>
      <p:sp>
        <p:nvSpPr>
          <p:cNvPr id="12" name="TextBox 11"/>
          <p:cNvSpPr txBox="1"/>
          <p:nvPr/>
        </p:nvSpPr>
        <p:spPr>
          <a:xfrm>
            <a:off x="6400800" y="1371600"/>
            <a:ext cx="5029200" cy="365760"/>
          </a:xfrm>
          <a:prstGeom prst="rect">
            <a:avLst/>
          </a:prstGeom>
          <a:noFill/>
        </p:spPr>
        <p:txBody>
          <a:bodyPr wrap="square">
            <a:spAutoFit/>
          </a:bodyPr>
          <a:lstStyle/>
          <a:p>
            <a:pPr algn="l">
              <a:lnSpc>
                <a:spcPts val="2400"/>
              </a:lnSpc>
              <a:spcBef>
                <a:spcPts val="0"/>
              </a:spcBef>
              <a:spcAft>
                <a:spcPts val="0"/>
              </a:spcAft>
              <a:defRPr sz="2000" b="1">
                <a:solidFill>
                  <a:srgbClr val="00BCD4"/>
                </a:solidFill>
                <a:latin typeface="Calibri"/>
              </a:defRPr>
            </a:pPr>
            <a:r>
              <a:t>Key Configuration</a:t>
            </a:r>
          </a:p>
        </p:txBody>
      </p:sp>
      <p:sp>
        <p:nvSpPr>
          <p:cNvPr id="13" name="TextBox 12"/>
          <p:cNvSpPr txBox="1"/>
          <p:nvPr/>
        </p:nvSpPr>
        <p:spPr>
          <a:xfrm>
            <a:off x="6400800" y="1828800"/>
            <a:ext cx="5029200" cy="1828800"/>
          </a:xfrm>
          <a:prstGeom prst="rect">
            <a:avLst/>
          </a:prstGeom>
          <a:noFill/>
        </p:spPr>
        <p:txBody>
          <a:bodyPr wrap="square">
            <a:spAutoFit/>
          </a:bodyPr>
          <a:lstStyle/>
          <a:p>
            <a:pPr>
              <a:lnSpc>
                <a:spcPts val="1959"/>
              </a:lnSpc>
              <a:spcBef>
                <a:spcPts val="400"/>
              </a:spcBef>
              <a:spcAft>
                <a:spcPts val="800"/>
              </a:spcAft>
            </a:pPr>
            <a:r>
              <a:rPr sz="1400">
                <a:solidFill>
                  <a:srgbClr val="00BCD4"/>
                </a:solidFill>
                <a:latin typeface="Calibri"/>
              </a:rPr>
              <a:t>▸ </a:t>
            </a:r>
            <a:r>
              <a:rPr sz="1400" b="0">
                <a:solidFill>
                  <a:srgbClr val="FFFFFF"/>
                </a:solidFill>
                <a:latin typeface="Calibri"/>
              </a:rPr>
              <a:t>Runs on ubuntu-24.04 (matches target environment)</a:t>
            </a:r>
          </a:p>
          <a:p>
            <a:pPr>
              <a:lnSpc>
                <a:spcPts val="1959"/>
              </a:lnSpc>
              <a:spcBef>
                <a:spcPts val="400"/>
              </a:spcBef>
              <a:spcAft>
                <a:spcPts val="800"/>
              </a:spcAft>
            </a:pPr>
            <a:r>
              <a:rPr sz="1400">
                <a:solidFill>
                  <a:srgbClr val="00BCD4"/>
                </a:solidFill>
                <a:latin typeface="Calibri"/>
              </a:rPr>
              <a:t>▸ </a:t>
            </a:r>
            <a:r>
              <a:rPr sz="1400" b="0">
                <a:solidFill>
                  <a:srgbClr val="FFFFFF"/>
                </a:solidFill>
                <a:latin typeface="Calibri"/>
              </a:rPr>
              <a:t>Sequential stages: lint must pass before test</a:t>
            </a:r>
          </a:p>
          <a:p>
            <a:pPr>
              <a:lnSpc>
                <a:spcPts val="1959"/>
              </a:lnSpc>
              <a:spcBef>
                <a:spcPts val="400"/>
              </a:spcBef>
              <a:spcAft>
                <a:spcPts val="800"/>
              </a:spcAft>
            </a:pPr>
            <a:r>
              <a:rPr sz="1400">
                <a:solidFill>
                  <a:srgbClr val="00BCD4"/>
                </a:solidFill>
                <a:latin typeface="Calibri"/>
              </a:rPr>
              <a:t>▸ </a:t>
            </a:r>
            <a:r>
              <a:rPr sz="1400" b="0">
                <a:solidFill>
                  <a:srgbClr val="FFFFFF"/>
                </a:solidFill>
                <a:latin typeface="Calibri"/>
              </a:rPr>
              <a:t>Clear pass/fail output at each step</a:t>
            </a:r>
          </a:p>
          <a:p>
            <a:pPr>
              <a:lnSpc>
                <a:spcPts val="1959"/>
              </a:lnSpc>
              <a:spcBef>
                <a:spcPts val="400"/>
              </a:spcBef>
              <a:spcAft>
                <a:spcPts val="800"/>
              </a:spcAft>
            </a:pPr>
            <a:r>
              <a:rPr sz="1400">
                <a:solidFill>
                  <a:srgbClr val="00BCD4"/>
                </a:solidFill>
                <a:latin typeface="Calibri"/>
              </a:rPr>
              <a:t>▸ </a:t>
            </a:r>
            <a:r>
              <a:rPr sz="1400" b="0">
                <a:solidFill>
                  <a:srgbClr val="FFFFFF"/>
                </a:solidFill>
                <a:latin typeface="Calibri"/>
              </a:rPr>
              <a:t>Pipeline completes in under 1 minute</a:t>
            </a:r>
          </a:p>
        </p:txBody>
      </p:sp>
      <p:sp>
        <p:nvSpPr>
          <p:cNvPr id="14" name="Rectangle 13"/>
          <p:cNvSpPr/>
          <p:nvPr/>
        </p:nvSpPr>
        <p:spPr>
          <a:xfrm>
            <a:off x="685800" y="3840480"/>
            <a:ext cx="107442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23360"/>
            <a:ext cx="10744200" cy="365760"/>
          </a:xfrm>
          <a:prstGeom prst="rect">
            <a:avLst/>
          </a:prstGeom>
          <a:noFill/>
        </p:spPr>
        <p:txBody>
          <a:bodyPr wrap="square">
            <a:spAutoFit/>
          </a:bodyPr>
          <a:lstStyle/>
          <a:p>
            <a:pPr algn="l">
              <a:lnSpc>
                <a:spcPts val="2160"/>
              </a:lnSpc>
              <a:spcBef>
                <a:spcPts val="0"/>
              </a:spcBef>
              <a:spcAft>
                <a:spcPts val="0"/>
              </a:spcAft>
              <a:defRPr sz="1800" b="1">
                <a:solidFill>
                  <a:srgbClr val="00BCD4"/>
                </a:solidFill>
                <a:latin typeface="Calibri"/>
              </a:defRPr>
            </a:pPr>
            <a:r>
              <a:t>Workflow Structure</a:t>
            </a:r>
          </a:p>
        </p:txBody>
      </p:sp>
      <p:sp>
        <p:nvSpPr>
          <p:cNvPr id="16" name="Rectangle 15"/>
          <p:cNvSpPr/>
          <p:nvPr/>
        </p:nvSpPr>
        <p:spPr>
          <a:xfrm>
            <a:off x="685800" y="4480560"/>
            <a:ext cx="10744200" cy="1645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4480560"/>
            <a:ext cx="107442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617720"/>
            <a:ext cx="10378440" cy="320040"/>
          </a:xfrm>
          <a:prstGeom prst="rect">
            <a:avLst/>
          </a:prstGeom>
          <a:noFill/>
        </p:spPr>
        <p:txBody>
          <a:bodyPr wrap="square">
            <a:spAutoFit/>
          </a:bodyPr>
          <a:lstStyle/>
          <a:p>
            <a:pPr algn="l">
              <a:lnSpc>
                <a:spcPts val="1800"/>
              </a:lnSpc>
              <a:spcBef>
                <a:spcPts val="0"/>
              </a:spcBef>
              <a:spcAft>
                <a:spcPts val="0"/>
              </a:spcAft>
              <a:defRPr sz="1500" b="1">
                <a:solidFill>
                  <a:srgbClr val="4A90D9"/>
                </a:solidFill>
                <a:latin typeface="Calibri"/>
              </a:defRPr>
            </a:pPr>
            <a:r>
              <a:t>ci.yml</a:t>
            </a:r>
          </a:p>
        </p:txBody>
      </p:sp>
      <p:sp>
        <p:nvSpPr>
          <p:cNvPr id="19" name="TextBox 18"/>
          <p:cNvSpPr txBox="1"/>
          <p:nvPr/>
        </p:nvSpPr>
        <p:spPr>
          <a:xfrm>
            <a:off x="868680" y="4937760"/>
            <a:ext cx="10378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name: DeelTech CI/CD Pipeline</a:t>
            </a:r>
          </a:p>
        </p:txBody>
      </p:sp>
      <p:sp>
        <p:nvSpPr>
          <p:cNvPr id="20" name="TextBox 19"/>
          <p:cNvSpPr txBox="1"/>
          <p:nvPr/>
        </p:nvSpPr>
        <p:spPr>
          <a:xfrm>
            <a:off x="868680" y="5138928"/>
            <a:ext cx="10378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on: push [main, develop] | pull_request [main]</a:t>
            </a:r>
          </a:p>
        </p:txBody>
      </p:sp>
      <p:sp>
        <p:nvSpPr>
          <p:cNvPr id="21" name="TextBox 20"/>
          <p:cNvSpPr txBox="1"/>
          <p:nvPr/>
        </p:nvSpPr>
        <p:spPr>
          <a:xfrm>
            <a:off x="868680" y="5340096"/>
            <a:ext cx="10378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p>
        </p:txBody>
      </p:sp>
      <p:sp>
        <p:nvSpPr>
          <p:cNvPr id="22" name="TextBox 21"/>
          <p:cNvSpPr txBox="1"/>
          <p:nvPr/>
        </p:nvSpPr>
        <p:spPr>
          <a:xfrm>
            <a:off x="868680" y="5541264"/>
            <a:ext cx="10378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jobs:</a:t>
            </a:r>
          </a:p>
        </p:txBody>
      </p:sp>
      <p:sp>
        <p:nvSpPr>
          <p:cNvPr id="23" name="TextBox 22"/>
          <p:cNvSpPr txBox="1"/>
          <p:nvPr/>
        </p:nvSpPr>
        <p:spPr>
          <a:xfrm>
            <a:off x="868680" y="5742432"/>
            <a:ext cx="10378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  lint:     ShellCheck on all .sh files</a:t>
            </a:r>
          </a:p>
        </p:txBody>
      </p:sp>
      <p:sp>
        <p:nvSpPr>
          <p:cNvPr id="24" name="TextBox 23"/>
          <p:cNvSpPr txBox="1"/>
          <p:nvPr/>
        </p:nvSpPr>
        <p:spPr>
          <a:xfrm>
            <a:off x="868680" y="5943600"/>
            <a:ext cx="10378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  test:     bash -n + permissions + function checks</a:t>
            </a:r>
          </a:p>
        </p:txBody>
      </p:sp>
      <p:sp>
        <p:nvSpPr>
          <p:cNvPr id="25" name="TextBox 24"/>
          <p:cNvSpPr txBox="1"/>
          <p:nvPr/>
        </p:nvSpPr>
        <p:spPr>
          <a:xfrm>
            <a:off x="868680" y="6144768"/>
            <a:ext cx="10378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  deploy:   SSH to target VM (manual trigger)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058400" cy="59436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CI/CD Results &amp; Experience</a:t>
            </a:r>
          </a:p>
        </p:txBody>
      </p:sp>
      <p:sp>
        <p:nvSpPr>
          <p:cNvPr id="5" name="TextBox 4"/>
          <p:cNvSpPr txBox="1"/>
          <p:nvPr/>
        </p:nvSpPr>
        <p:spPr>
          <a:xfrm>
            <a:off x="685800" y="731520"/>
            <a:ext cx="10058400" cy="365760"/>
          </a:xfrm>
          <a:prstGeom prst="rect">
            <a:avLst/>
          </a:prstGeom>
          <a:noFill/>
        </p:spPr>
        <p:txBody>
          <a:bodyPr wrap="square">
            <a:spAutoFit/>
          </a:bodyPr>
          <a:lstStyle/>
          <a:p>
            <a:pPr algn="l">
              <a:lnSpc>
                <a:spcPts val="1680"/>
              </a:lnSpc>
              <a:spcBef>
                <a:spcPts val="0"/>
              </a:spcBef>
              <a:spcAft>
                <a:spcPts val="0"/>
              </a:spcAft>
              <a:defRPr sz="1400" b="0">
                <a:solidFill>
                  <a:srgbClr val="00BCD4"/>
                </a:solidFill>
                <a:latin typeface="Calibri"/>
              </a:defRPr>
            </a:pPr>
            <a:r>
              <a:t>What We Gained from Automation</a:t>
            </a:r>
          </a:p>
        </p:txBody>
      </p:sp>
      <p:sp>
        <p:nvSpPr>
          <p:cNvPr id="6" name="Rectangle 5"/>
          <p:cNvSpPr/>
          <p:nvPr/>
        </p:nvSpPr>
        <p:spPr>
          <a:xfrm>
            <a:off x="0" y="6446520"/>
            <a:ext cx="12191695" cy="41148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2743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92240"/>
            <a:ext cx="4572000" cy="320040"/>
          </a:xfrm>
          <a:prstGeom prst="rect">
            <a:avLst/>
          </a:prstGeom>
          <a:noFill/>
        </p:spPr>
        <p:txBody>
          <a:bodyPr wrap="square">
            <a:spAutoFit/>
          </a:bodyPr>
          <a:lstStyle/>
          <a:p>
            <a:pPr algn="l">
              <a:lnSpc>
                <a:spcPts val="1080"/>
              </a:lnSpc>
              <a:spcBef>
                <a:spcPts val="0"/>
              </a:spcBef>
              <a:spcAft>
                <a:spcPts val="0"/>
              </a:spcAft>
              <a:defRPr sz="900" b="0">
                <a:solidFill>
                  <a:srgbClr val="8090A8"/>
                </a:solidFill>
                <a:latin typeface="Calibri"/>
              </a:defRPr>
            </a:pPr>
            <a:r>
              <a:t>DeelTech Solutions  |  Confidential</a:t>
            </a:r>
          </a:p>
        </p:txBody>
      </p:sp>
      <p:sp>
        <p:nvSpPr>
          <p:cNvPr id="9" name="TextBox 8"/>
          <p:cNvSpPr txBox="1"/>
          <p:nvPr/>
        </p:nvSpPr>
        <p:spPr>
          <a:xfrm>
            <a:off x="10515600" y="6492240"/>
            <a:ext cx="1371600" cy="320040"/>
          </a:xfrm>
          <a:prstGeom prst="rect">
            <a:avLst/>
          </a:prstGeom>
          <a:noFill/>
        </p:spPr>
        <p:txBody>
          <a:bodyPr wrap="square">
            <a:spAutoFit/>
          </a:bodyPr>
          <a:lstStyle/>
          <a:p>
            <a:pPr algn="r">
              <a:lnSpc>
                <a:spcPts val="1080"/>
              </a:lnSpc>
              <a:spcBef>
                <a:spcPts val="0"/>
              </a:spcBef>
              <a:spcAft>
                <a:spcPts val="0"/>
              </a:spcAft>
              <a:defRPr sz="900" b="0">
                <a:solidFill>
                  <a:srgbClr val="8090A8"/>
                </a:solidFill>
                <a:latin typeface="Calibri"/>
              </a:defRPr>
            </a:pPr>
            <a:r>
              <a:t>6</a:t>
            </a:r>
          </a:p>
        </p:txBody>
      </p:sp>
      <p:sp>
        <p:nvSpPr>
          <p:cNvPr id="10" name="Rectangle 9"/>
          <p:cNvSpPr/>
          <p:nvPr/>
        </p:nvSpPr>
        <p:spPr>
          <a:xfrm>
            <a:off x="685800" y="1463040"/>
            <a:ext cx="3383280" cy="237744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463040"/>
            <a:ext cx="33832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600200"/>
            <a:ext cx="3017520" cy="320040"/>
          </a:xfrm>
          <a:prstGeom prst="rect">
            <a:avLst/>
          </a:prstGeom>
          <a:noFill/>
        </p:spPr>
        <p:txBody>
          <a:bodyPr wrap="square">
            <a:spAutoFit/>
          </a:bodyPr>
          <a:lstStyle/>
          <a:p>
            <a:pPr algn="l">
              <a:lnSpc>
                <a:spcPts val="1800"/>
              </a:lnSpc>
              <a:spcBef>
                <a:spcPts val="0"/>
              </a:spcBef>
              <a:spcAft>
                <a:spcPts val="0"/>
              </a:spcAft>
              <a:defRPr sz="1500" b="1">
                <a:solidFill>
                  <a:srgbClr val="4CAF50"/>
                </a:solidFill>
                <a:latin typeface="Calibri"/>
              </a:defRPr>
            </a:pPr>
            <a:r>
              <a:t>Caught Bugs Early</a:t>
            </a:r>
          </a:p>
        </p:txBody>
      </p:sp>
      <p:sp>
        <p:nvSpPr>
          <p:cNvPr id="13" name="TextBox 12"/>
          <p:cNvSpPr txBox="1"/>
          <p:nvPr/>
        </p:nvSpPr>
        <p:spPr>
          <a:xfrm>
            <a:off x="868680" y="1920240"/>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ShellCheck flagged quoting issues</a:t>
            </a:r>
          </a:p>
        </p:txBody>
      </p:sp>
      <p:sp>
        <p:nvSpPr>
          <p:cNvPr id="14" name="TextBox 13"/>
          <p:cNvSpPr txBox="1"/>
          <p:nvPr/>
        </p:nvSpPr>
        <p:spPr>
          <a:xfrm>
            <a:off x="868680" y="2121408"/>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that manual review missed</a:t>
            </a:r>
          </a:p>
        </p:txBody>
      </p:sp>
      <p:sp>
        <p:nvSpPr>
          <p:cNvPr id="15" name="TextBox 14"/>
          <p:cNvSpPr txBox="1"/>
          <p:nvPr/>
        </p:nvSpPr>
        <p:spPr>
          <a:xfrm>
            <a:off x="868680" y="2322576"/>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p>
        </p:txBody>
      </p:sp>
      <p:sp>
        <p:nvSpPr>
          <p:cNvPr id="16" name="TextBox 15"/>
          <p:cNvSpPr txBox="1"/>
          <p:nvPr/>
        </p:nvSpPr>
        <p:spPr>
          <a:xfrm>
            <a:off x="868680" y="2523744"/>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Syntax check caught a bracket</a:t>
            </a:r>
          </a:p>
        </p:txBody>
      </p:sp>
      <p:sp>
        <p:nvSpPr>
          <p:cNvPr id="17" name="TextBox 16"/>
          <p:cNvSpPr txBox="1"/>
          <p:nvPr/>
        </p:nvSpPr>
        <p:spPr>
          <a:xfrm>
            <a:off x="868680" y="2724912"/>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mismatch from a late-night edit</a:t>
            </a:r>
          </a:p>
        </p:txBody>
      </p:sp>
      <p:sp>
        <p:nvSpPr>
          <p:cNvPr id="18" name="TextBox 17"/>
          <p:cNvSpPr txBox="1"/>
          <p:nvPr/>
        </p:nvSpPr>
        <p:spPr>
          <a:xfrm>
            <a:off x="868680" y="2926080"/>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p>
        </p:txBody>
      </p:sp>
      <p:sp>
        <p:nvSpPr>
          <p:cNvPr id="19" name="TextBox 18"/>
          <p:cNvSpPr txBox="1"/>
          <p:nvPr/>
        </p:nvSpPr>
        <p:spPr>
          <a:xfrm>
            <a:off x="868680" y="3127248"/>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Prevented broken code from</a:t>
            </a:r>
          </a:p>
        </p:txBody>
      </p:sp>
      <p:sp>
        <p:nvSpPr>
          <p:cNvPr id="20" name="TextBox 19"/>
          <p:cNvSpPr txBox="1"/>
          <p:nvPr/>
        </p:nvSpPr>
        <p:spPr>
          <a:xfrm>
            <a:off x="868680" y="3328416"/>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reaching the main branch</a:t>
            </a:r>
          </a:p>
        </p:txBody>
      </p:sp>
      <p:sp>
        <p:nvSpPr>
          <p:cNvPr id="21" name="Rectangle 20"/>
          <p:cNvSpPr/>
          <p:nvPr/>
        </p:nvSpPr>
        <p:spPr>
          <a:xfrm>
            <a:off x="4389120" y="1463040"/>
            <a:ext cx="3383280" cy="237744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1463040"/>
            <a:ext cx="33832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1600200"/>
            <a:ext cx="3017520" cy="320040"/>
          </a:xfrm>
          <a:prstGeom prst="rect">
            <a:avLst/>
          </a:prstGeom>
          <a:noFill/>
        </p:spPr>
        <p:txBody>
          <a:bodyPr wrap="square">
            <a:spAutoFit/>
          </a:bodyPr>
          <a:lstStyle/>
          <a:p>
            <a:pPr algn="l">
              <a:lnSpc>
                <a:spcPts val="1800"/>
              </a:lnSpc>
              <a:spcBef>
                <a:spcPts val="0"/>
              </a:spcBef>
              <a:spcAft>
                <a:spcPts val="0"/>
              </a:spcAft>
              <a:defRPr sz="1500" b="1">
                <a:solidFill>
                  <a:srgbClr val="4A90D9"/>
                </a:solidFill>
                <a:latin typeface="Calibri"/>
              </a:defRPr>
            </a:pPr>
            <a:r>
              <a:t>Enforced Consistency</a:t>
            </a:r>
          </a:p>
        </p:txBody>
      </p:sp>
      <p:sp>
        <p:nvSpPr>
          <p:cNvPr id="24" name="TextBox 23"/>
          <p:cNvSpPr txBox="1"/>
          <p:nvPr/>
        </p:nvSpPr>
        <p:spPr>
          <a:xfrm>
            <a:off x="4572000" y="1920240"/>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Every team member met the</a:t>
            </a:r>
          </a:p>
        </p:txBody>
      </p:sp>
      <p:sp>
        <p:nvSpPr>
          <p:cNvPr id="25" name="TextBox 24"/>
          <p:cNvSpPr txBox="1"/>
          <p:nvPr/>
        </p:nvSpPr>
        <p:spPr>
          <a:xfrm>
            <a:off x="4572000" y="2121408"/>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same quality bar before merging</a:t>
            </a:r>
          </a:p>
        </p:txBody>
      </p:sp>
      <p:sp>
        <p:nvSpPr>
          <p:cNvPr id="26" name="TextBox 25"/>
          <p:cNvSpPr txBox="1"/>
          <p:nvPr/>
        </p:nvSpPr>
        <p:spPr>
          <a:xfrm>
            <a:off x="4572000" y="2322576"/>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p>
        </p:txBody>
      </p:sp>
      <p:sp>
        <p:nvSpPr>
          <p:cNvPr id="27" name="TextBox 26"/>
          <p:cNvSpPr txBox="1"/>
          <p:nvPr/>
        </p:nvSpPr>
        <p:spPr>
          <a:xfrm>
            <a:off x="4572000" y="2523744"/>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Automated checks replaced</a:t>
            </a:r>
          </a:p>
        </p:txBody>
      </p:sp>
      <p:sp>
        <p:nvSpPr>
          <p:cNvPr id="28" name="TextBox 27"/>
          <p:cNvSpPr txBox="1"/>
          <p:nvPr/>
        </p:nvSpPr>
        <p:spPr>
          <a:xfrm>
            <a:off x="4572000" y="2724912"/>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manual checklists</a:t>
            </a:r>
          </a:p>
        </p:txBody>
      </p:sp>
      <p:sp>
        <p:nvSpPr>
          <p:cNvPr id="29" name="TextBox 28"/>
          <p:cNvSpPr txBox="1"/>
          <p:nvPr/>
        </p:nvSpPr>
        <p:spPr>
          <a:xfrm>
            <a:off x="4572000" y="2926080"/>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p>
        </p:txBody>
      </p:sp>
      <p:sp>
        <p:nvSpPr>
          <p:cNvPr id="30" name="TextBox 29"/>
          <p:cNvSpPr txBox="1"/>
          <p:nvPr/>
        </p:nvSpPr>
        <p:spPr>
          <a:xfrm>
            <a:off x="4572000" y="3127248"/>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Consistent style and patterns</a:t>
            </a:r>
          </a:p>
        </p:txBody>
      </p:sp>
      <p:sp>
        <p:nvSpPr>
          <p:cNvPr id="31" name="TextBox 30"/>
          <p:cNvSpPr txBox="1"/>
          <p:nvPr/>
        </p:nvSpPr>
        <p:spPr>
          <a:xfrm>
            <a:off x="4572000" y="3328416"/>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across the entire codebase</a:t>
            </a:r>
          </a:p>
        </p:txBody>
      </p:sp>
      <p:sp>
        <p:nvSpPr>
          <p:cNvPr id="32" name="Rectangle 31"/>
          <p:cNvSpPr/>
          <p:nvPr/>
        </p:nvSpPr>
        <p:spPr>
          <a:xfrm>
            <a:off x="8092440" y="1463040"/>
            <a:ext cx="3383280" cy="237744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92440" y="1463040"/>
            <a:ext cx="33832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75320" y="1600200"/>
            <a:ext cx="3017520" cy="320040"/>
          </a:xfrm>
          <a:prstGeom prst="rect">
            <a:avLst/>
          </a:prstGeom>
          <a:noFill/>
        </p:spPr>
        <p:txBody>
          <a:bodyPr wrap="square">
            <a:spAutoFit/>
          </a:bodyPr>
          <a:lstStyle/>
          <a:p>
            <a:pPr algn="l">
              <a:lnSpc>
                <a:spcPts val="1800"/>
              </a:lnSpc>
              <a:spcBef>
                <a:spcPts val="0"/>
              </a:spcBef>
              <a:spcAft>
                <a:spcPts val="0"/>
              </a:spcAft>
              <a:defRPr sz="1500" b="1">
                <a:solidFill>
                  <a:srgbClr val="00BCD4"/>
                </a:solidFill>
                <a:latin typeface="Calibri"/>
              </a:defRPr>
            </a:pPr>
            <a:r>
              <a:t>Improved Workflow</a:t>
            </a:r>
          </a:p>
        </p:txBody>
      </p:sp>
      <p:sp>
        <p:nvSpPr>
          <p:cNvPr id="35" name="TextBox 34"/>
          <p:cNvSpPr txBox="1"/>
          <p:nvPr/>
        </p:nvSpPr>
        <p:spPr>
          <a:xfrm>
            <a:off x="8275320" y="1920240"/>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Pull request reviews became</a:t>
            </a:r>
          </a:p>
        </p:txBody>
      </p:sp>
      <p:sp>
        <p:nvSpPr>
          <p:cNvPr id="36" name="TextBox 35"/>
          <p:cNvSpPr txBox="1"/>
          <p:nvPr/>
        </p:nvSpPr>
        <p:spPr>
          <a:xfrm>
            <a:off x="8275320" y="2121408"/>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faster and more focused</a:t>
            </a:r>
          </a:p>
        </p:txBody>
      </p:sp>
      <p:sp>
        <p:nvSpPr>
          <p:cNvPr id="37" name="TextBox 36"/>
          <p:cNvSpPr txBox="1"/>
          <p:nvPr/>
        </p:nvSpPr>
        <p:spPr>
          <a:xfrm>
            <a:off x="8275320" y="2322576"/>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p>
        </p:txBody>
      </p:sp>
      <p:sp>
        <p:nvSpPr>
          <p:cNvPr id="38" name="TextBox 37"/>
          <p:cNvSpPr txBox="1"/>
          <p:nvPr/>
        </p:nvSpPr>
        <p:spPr>
          <a:xfrm>
            <a:off x="8275320" y="2523744"/>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Reviewers could focus on logic</a:t>
            </a:r>
          </a:p>
        </p:txBody>
      </p:sp>
      <p:sp>
        <p:nvSpPr>
          <p:cNvPr id="39" name="TextBox 38"/>
          <p:cNvSpPr txBox="1"/>
          <p:nvPr/>
        </p:nvSpPr>
        <p:spPr>
          <a:xfrm>
            <a:off x="8275320" y="2724912"/>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instead of syntax checking</a:t>
            </a:r>
          </a:p>
        </p:txBody>
      </p:sp>
      <p:sp>
        <p:nvSpPr>
          <p:cNvPr id="40" name="TextBox 39"/>
          <p:cNvSpPr txBox="1"/>
          <p:nvPr/>
        </p:nvSpPr>
        <p:spPr>
          <a:xfrm>
            <a:off x="8275320" y="2926080"/>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p>
        </p:txBody>
      </p:sp>
      <p:sp>
        <p:nvSpPr>
          <p:cNvPr id="41" name="TextBox 40"/>
          <p:cNvSpPr txBox="1"/>
          <p:nvPr/>
        </p:nvSpPr>
        <p:spPr>
          <a:xfrm>
            <a:off x="8275320" y="3127248"/>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Team confidence increased with</a:t>
            </a:r>
          </a:p>
        </p:txBody>
      </p:sp>
      <p:sp>
        <p:nvSpPr>
          <p:cNvPr id="42" name="TextBox 41"/>
          <p:cNvSpPr txBox="1"/>
          <p:nvPr/>
        </p:nvSpPr>
        <p:spPr>
          <a:xfrm>
            <a:off x="8275320" y="3328416"/>
            <a:ext cx="301752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every validated merge</a:t>
            </a:r>
          </a:p>
        </p:txBody>
      </p:sp>
      <p:sp>
        <p:nvSpPr>
          <p:cNvPr id="43" name="Rectangle 42"/>
          <p:cNvSpPr/>
          <p:nvPr/>
        </p:nvSpPr>
        <p:spPr>
          <a:xfrm>
            <a:off x="685800" y="4206240"/>
            <a:ext cx="10744200" cy="182880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800" y="4206240"/>
            <a:ext cx="107442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4389120"/>
            <a:ext cx="10287000" cy="365760"/>
          </a:xfrm>
          <a:prstGeom prst="rect">
            <a:avLst/>
          </a:prstGeom>
          <a:noFill/>
        </p:spPr>
        <p:txBody>
          <a:bodyPr wrap="square">
            <a:spAutoFit/>
          </a:bodyPr>
          <a:lstStyle/>
          <a:p>
            <a:pPr algn="l">
              <a:lnSpc>
                <a:spcPts val="2160"/>
              </a:lnSpc>
              <a:spcBef>
                <a:spcPts val="0"/>
              </a:spcBef>
              <a:spcAft>
                <a:spcPts val="0"/>
              </a:spcAft>
              <a:defRPr sz="1800" b="1">
                <a:solidFill>
                  <a:srgbClr val="00BCD4"/>
                </a:solidFill>
                <a:latin typeface="Calibri"/>
              </a:defRPr>
            </a:pPr>
            <a:r>
              <a:t>Key Takeaway</a:t>
            </a:r>
          </a:p>
        </p:txBody>
      </p:sp>
      <p:sp>
        <p:nvSpPr>
          <p:cNvPr id="46" name="TextBox 45"/>
          <p:cNvSpPr txBox="1"/>
          <p:nvPr/>
        </p:nvSpPr>
        <p:spPr>
          <a:xfrm>
            <a:off x="914400" y="4846320"/>
            <a:ext cx="10287000" cy="914400"/>
          </a:xfrm>
          <a:prstGeom prst="rect">
            <a:avLst/>
          </a:prstGeom>
          <a:noFill/>
        </p:spPr>
        <p:txBody>
          <a:bodyPr wrap="square">
            <a:spAutoFit/>
          </a:bodyPr>
          <a:lstStyle/>
          <a:p>
            <a:pPr algn="l">
              <a:lnSpc>
                <a:spcPts val="1680"/>
              </a:lnSpc>
              <a:spcBef>
                <a:spcPts val="0"/>
              </a:spcBef>
              <a:spcAft>
                <a:spcPts val="0"/>
              </a:spcAft>
              <a:defRPr sz="1400" b="0">
                <a:solidFill>
                  <a:srgbClr val="E8ECF1"/>
                </a:solidFill>
                <a:latin typeface="Calibri"/>
              </a:defRPr>
            </a:pPr>
            <a:r>
              <a:t>CI/CD transformed our development process from reactive to proactive. Instead of discovering bugs during testing or deployment, we caught them at the moment they were introduced. This saved time, reduced frustration, and gave the team confidence that the main branch was always in a working state.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058400" cy="59436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Lessons Learned</a:t>
            </a:r>
          </a:p>
        </p:txBody>
      </p:sp>
      <p:sp>
        <p:nvSpPr>
          <p:cNvPr id="5" name="TextBox 4"/>
          <p:cNvSpPr txBox="1"/>
          <p:nvPr/>
        </p:nvSpPr>
        <p:spPr>
          <a:xfrm>
            <a:off x="685800" y="731520"/>
            <a:ext cx="10058400" cy="365760"/>
          </a:xfrm>
          <a:prstGeom prst="rect">
            <a:avLst/>
          </a:prstGeom>
          <a:noFill/>
        </p:spPr>
        <p:txBody>
          <a:bodyPr wrap="square">
            <a:spAutoFit/>
          </a:bodyPr>
          <a:lstStyle/>
          <a:p>
            <a:pPr algn="l">
              <a:lnSpc>
                <a:spcPts val="1680"/>
              </a:lnSpc>
              <a:spcBef>
                <a:spcPts val="0"/>
              </a:spcBef>
              <a:spcAft>
                <a:spcPts val="0"/>
              </a:spcAft>
              <a:defRPr sz="1400" b="0">
                <a:solidFill>
                  <a:srgbClr val="00BCD4"/>
                </a:solidFill>
                <a:latin typeface="Calibri"/>
              </a:defRPr>
            </a:pPr>
            <a:r>
              <a:t>Key Insights from the Development Process</a:t>
            </a:r>
          </a:p>
        </p:txBody>
      </p:sp>
      <p:sp>
        <p:nvSpPr>
          <p:cNvPr id="6" name="Rectangle 5"/>
          <p:cNvSpPr/>
          <p:nvPr/>
        </p:nvSpPr>
        <p:spPr>
          <a:xfrm>
            <a:off x="0" y="6446520"/>
            <a:ext cx="12191695" cy="41148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2743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92240"/>
            <a:ext cx="4572000" cy="320040"/>
          </a:xfrm>
          <a:prstGeom prst="rect">
            <a:avLst/>
          </a:prstGeom>
          <a:noFill/>
        </p:spPr>
        <p:txBody>
          <a:bodyPr wrap="square">
            <a:spAutoFit/>
          </a:bodyPr>
          <a:lstStyle/>
          <a:p>
            <a:pPr algn="l">
              <a:lnSpc>
                <a:spcPts val="1080"/>
              </a:lnSpc>
              <a:spcBef>
                <a:spcPts val="0"/>
              </a:spcBef>
              <a:spcAft>
                <a:spcPts val="0"/>
              </a:spcAft>
              <a:defRPr sz="900" b="0">
                <a:solidFill>
                  <a:srgbClr val="8090A8"/>
                </a:solidFill>
                <a:latin typeface="Calibri"/>
              </a:defRPr>
            </a:pPr>
            <a:r>
              <a:t>DeelTech Solutions  |  Confidential</a:t>
            </a:r>
          </a:p>
        </p:txBody>
      </p:sp>
      <p:sp>
        <p:nvSpPr>
          <p:cNvPr id="9" name="TextBox 8"/>
          <p:cNvSpPr txBox="1"/>
          <p:nvPr/>
        </p:nvSpPr>
        <p:spPr>
          <a:xfrm>
            <a:off x="10515600" y="6492240"/>
            <a:ext cx="1371600" cy="320040"/>
          </a:xfrm>
          <a:prstGeom prst="rect">
            <a:avLst/>
          </a:prstGeom>
          <a:noFill/>
        </p:spPr>
        <p:txBody>
          <a:bodyPr wrap="square">
            <a:spAutoFit/>
          </a:bodyPr>
          <a:lstStyle/>
          <a:p>
            <a:pPr algn="r">
              <a:lnSpc>
                <a:spcPts val="1080"/>
              </a:lnSpc>
              <a:spcBef>
                <a:spcPts val="0"/>
              </a:spcBef>
              <a:spcAft>
                <a:spcPts val="0"/>
              </a:spcAft>
              <a:defRPr sz="900" b="0">
                <a:solidFill>
                  <a:srgbClr val="8090A8"/>
                </a:solidFill>
                <a:latin typeface="Calibri"/>
              </a:defRPr>
            </a:pPr>
            <a:r>
              <a:t>7</a:t>
            </a:r>
          </a:p>
        </p:txBody>
      </p:sp>
      <p:sp>
        <p:nvSpPr>
          <p:cNvPr id="10" name="TextBox 9"/>
          <p:cNvSpPr txBox="1"/>
          <p:nvPr/>
        </p:nvSpPr>
        <p:spPr>
          <a:xfrm>
            <a:off x="685800" y="1463040"/>
            <a:ext cx="10744200" cy="822960"/>
          </a:xfrm>
          <a:prstGeom prst="rect">
            <a:avLst/>
          </a:prstGeom>
          <a:noFill/>
        </p:spPr>
        <p:txBody>
          <a:bodyPr wrap="square">
            <a:spAutoFit/>
          </a:bodyPr>
          <a:lstStyle/>
          <a:p>
            <a:pPr>
              <a:lnSpc>
                <a:spcPts val="1820"/>
              </a:lnSpc>
              <a:spcBef>
                <a:spcPts val="200"/>
              </a:spcBef>
              <a:spcAft>
                <a:spcPts val="400"/>
              </a:spcAft>
            </a:pPr>
            <a:r>
              <a:rPr sz="1400" b="1">
                <a:solidFill>
                  <a:srgbClr val="00BCD4"/>
                </a:solidFill>
                <a:latin typeface="Calibri"/>
              </a:rPr>
              <a:t>1. Start CI/CD early, not at the end  </a:t>
            </a:r>
            <a:r>
              <a:rPr sz="1400" b="0">
                <a:solidFill>
                  <a:srgbClr val="FFFFFF"/>
                </a:solidFill>
                <a:latin typeface="Calibri"/>
              </a:rPr>
              <a:t>—  Every commit before the pipeline existed was essentially unvalidated. Setting up even a basic lint check from the first commit would have caught issues sooner.</a:t>
            </a:r>
          </a:p>
        </p:txBody>
      </p:sp>
      <p:sp>
        <p:nvSpPr>
          <p:cNvPr id="11" name="TextBox 10"/>
          <p:cNvSpPr txBox="1"/>
          <p:nvPr/>
        </p:nvSpPr>
        <p:spPr>
          <a:xfrm>
            <a:off x="685800" y="2377440"/>
            <a:ext cx="10744200" cy="822960"/>
          </a:xfrm>
          <a:prstGeom prst="rect">
            <a:avLst/>
          </a:prstGeom>
          <a:noFill/>
        </p:spPr>
        <p:txBody>
          <a:bodyPr wrap="square">
            <a:spAutoFit/>
          </a:bodyPr>
          <a:lstStyle/>
          <a:p>
            <a:pPr>
              <a:lnSpc>
                <a:spcPts val="1820"/>
              </a:lnSpc>
              <a:spcBef>
                <a:spcPts val="200"/>
              </a:spcBef>
              <a:spcAft>
                <a:spcPts val="400"/>
              </a:spcAft>
            </a:pPr>
            <a:r>
              <a:rPr sz="1400" b="1">
                <a:solidFill>
                  <a:srgbClr val="00BCD4"/>
                </a:solidFill>
                <a:latin typeface="Calibri"/>
              </a:rPr>
              <a:t>2. ShellCheck catches subtle bugs  </a:t>
            </a:r>
            <a:r>
              <a:rPr sz="1400" b="0">
                <a:solidFill>
                  <a:srgbClr val="FFFFFF"/>
                </a:solidFill>
                <a:latin typeface="Calibri"/>
              </a:rPr>
              <a:t>—  Unquoted variables inside conditionals, missing error handling on subshells — these are issues that are difficult to spot by eye but ShellCheck flags instantly.</a:t>
            </a:r>
          </a:p>
        </p:txBody>
      </p:sp>
      <p:sp>
        <p:nvSpPr>
          <p:cNvPr id="12" name="TextBox 11"/>
          <p:cNvSpPr txBox="1"/>
          <p:nvPr/>
        </p:nvSpPr>
        <p:spPr>
          <a:xfrm>
            <a:off x="685800" y="3291840"/>
            <a:ext cx="10744200" cy="822960"/>
          </a:xfrm>
          <a:prstGeom prst="rect">
            <a:avLst/>
          </a:prstGeom>
          <a:noFill/>
        </p:spPr>
        <p:txBody>
          <a:bodyPr wrap="square">
            <a:spAutoFit/>
          </a:bodyPr>
          <a:lstStyle/>
          <a:p>
            <a:pPr>
              <a:lnSpc>
                <a:spcPts val="1820"/>
              </a:lnSpc>
              <a:spcBef>
                <a:spcPts val="200"/>
              </a:spcBef>
              <a:spcAft>
                <a:spcPts val="400"/>
              </a:spcAft>
            </a:pPr>
            <a:r>
              <a:rPr sz="1400" b="1">
                <a:solidFill>
                  <a:srgbClr val="00BCD4"/>
                </a:solidFill>
                <a:latin typeface="Calibri"/>
              </a:rPr>
              <a:t>3. Branch protection is essential  </a:t>
            </a:r>
            <a:r>
              <a:rPr sz="1400" b="0">
                <a:solidFill>
                  <a:srgbClr val="FFFFFF"/>
                </a:solidFill>
                <a:latin typeface="Calibri"/>
              </a:rPr>
              <a:t>—  Requiring the pipeline to pass before merging prevented us from accidentally pushing broken code to main. It is a simple rule with an outsized impact.</a:t>
            </a:r>
          </a:p>
        </p:txBody>
      </p:sp>
      <p:sp>
        <p:nvSpPr>
          <p:cNvPr id="13" name="TextBox 12"/>
          <p:cNvSpPr txBox="1"/>
          <p:nvPr/>
        </p:nvSpPr>
        <p:spPr>
          <a:xfrm>
            <a:off x="685800" y="4206240"/>
            <a:ext cx="10744200" cy="822960"/>
          </a:xfrm>
          <a:prstGeom prst="rect">
            <a:avLst/>
          </a:prstGeom>
          <a:noFill/>
        </p:spPr>
        <p:txBody>
          <a:bodyPr wrap="square">
            <a:spAutoFit/>
          </a:bodyPr>
          <a:lstStyle/>
          <a:p>
            <a:pPr>
              <a:lnSpc>
                <a:spcPts val="1820"/>
              </a:lnSpc>
              <a:spcBef>
                <a:spcPts val="200"/>
              </a:spcBef>
              <a:spcAft>
                <a:spcPts val="400"/>
              </a:spcAft>
            </a:pPr>
            <a:r>
              <a:rPr sz="1400" b="1">
                <a:solidFill>
                  <a:srgbClr val="00BCD4"/>
                </a:solidFill>
                <a:latin typeface="Calibri"/>
              </a:rPr>
              <a:t>4. Write testable scripts from the start  </a:t>
            </a:r>
            <a:r>
              <a:rPr sz="1400" b="0">
                <a:solidFill>
                  <a:srgbClr val="FFFFFF"/>
                </a:solidFill>
                <a:latin typeface="Calibri"/>
              </a:rPr>
              <a:t>—  Structuring code with clearly defined functions made it possible for the pipeline to verify their existence. Good architecture enables good automation.</a:t>
            </a:r>
          </a:p>
        </p:txBody>
      </p:sp>
      <p:sp>
        <p:nvSpPr>
          <p:cNvPr id="14" name="TextBox 13"/>
          <p:cNvSpPr txBox="1"/>
          <p:nvPr/>
        </p:nvSpPr>
        <p:spPr>
          <a:xfrm>
            <a:off x="685800" y="5120640"/>
            <a:ext cx="10744200" cy="822960"/>
          </a:xfrm>
          <a:prstGeom prst="rect">
            <a:avLst/>
          </a:prstGeom>
          <a:noFill/>
        </p:spPr>
        <p:txBody>
          <a:bodyPr wrap="square">
            <a:spAutoFit/>
          </a:bodyPr>
          <a:lstStyle/>
          <a:p>
            <a:pPr>
              <a:lnSpc>
                <a:spcPts val="1820"/>
              </a:lnSpc>
              <a:spcBef>
                <a:spcPts val="200"/>
              </a:spcBef>
              <a:spcAft>
                <a:spcPts val="400"/>
              </a:spcAft>
            </a:pPr>
            <a:r>
              <a:rPr sz="1400" b="1">
                <a:solidFill>
                  <a:srgbClr val="00BCD4"/>
                </a:solidFill>
                <a:latin typeface="Calibri"/>
              </a:rPr>
              <a:t>5. Maintain docs alongside code  </a:t>
            </a:r>
            <a:r>
              <a:rPr sz="1400" b="0">
                <a:solidFill>
                  <a:srgbClr val="FFFFFF"/>
                </a:solidFill>
                <a:latin typeface="Calibri"/>
              </a:rPr>
              <a:t>—  Documentation written after the fact is always incomplete. Keeping docs current during development saved us significant rework at the 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058400" cy="59436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Process Improvements</a:t>
            </a:r>
          </a:p>
        </p:txBody>
      </p:sp>
      <p:sp>
        <p:nvSpPr>
          <p:cNvPr id="5" name="TextBox 4"/>
          <p:cNvSpPr txBox="1"/>
          <p:nvPr/>
        </p:nvSpPr>
        <p:spPr>
          <a:xfrm>
            <a:off x="685800" y="731520"/>
            <a:ext cx="10058400" cy="365760"/>
          </a:xfrm>
          <a:prstGeom prst="rect">
            <a:avLst/>
          </a:prstGeom>
          <a:noFill/>
        </p:spPr>
        <p:txBody>
          <a:bodyPr wrap="square">
            <a:spAutoFit/>
          </a:bodyPr>
          <a:lstStyle/>
          <a:p>
            <a:pPr algn="l">
              <a:lnSpc>
                <a:spcPts val="1680"/>
              </a:lnSpc>
              <a:spcBef>
                <a:spcPts val="0"/>
              </a:spcBef>
              <a:spcAft>
                <a:spcPts val="0"/>
              </a:spcAft>
              <a:defRPr sz="1400" b="0">
                <a:solidFill>
                  <a:srgbClr val="00BCD4"/>
                </a:solidFill>
                <a:latin typeface="Calibri"/>
              </a:defRPr>
            </a:pPr>
            <a:r>
              <a:t>What We Would Do Differently Next Time</a:t>
            </a:r>
          </a:p>
        </p:txBody>
      </p:sp>
      <p:sp>
        <p:nvSpPr>
          <p:cNvPr id="6" name="Rectangle 5"/>
          <p:cNvSpPr/>
          <p:nvPr/>
        </p:nvSpPr>
        <p:spPr>
          <a:xfrm>
            <a:off x="0" y="6446520"/>
            <a:ext cx="12191695" cy="41148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2743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92240"/>
            <a:ext cx="4572000" cy="320040"/>
          </a:xfrm>
          <a:prstGeom prst="rect">
            <a:avLst/>
          </a:prstGeom>
          <a:noFill/>
        </p:spPr>
        <p:txBody>
          <a:bodyPr wrap="square">
            <a:spAutoFit/>
          </a:bodyPr>
          <a:lstStyle/>
          <a:p>
            <a:pPr algn="l">
              <a:lnSpc>
                <a:spcPts val="1080"/>
              </a:lnSpc>
              <a:spcBef>
                <a:spcPts val="0"/>
              </a:spcBef>
              <a:spcAft>
                <a:spcPts val="0"/>
              </a:spcAft>
              <a:defRPr sz="900" b="0">
                <a:solidFill>
                  <a:srgbClr val="8090A8"/>
                </a:solidFill>
                <a:latin typeface="Calibri"/>
              </a:defRPr>
            </a:pPr>
            <a:r>
              <a:t>DeelTech Solutions  |  Confidential</a:t>
            </a:r>
          </a:p>
        </p:txBody>
      </p:sp>
      <p:sp>
        <p:nvSpPr>
          <p:cNvPr id="9" name="TextBox 8"/>
          <p:cNvSpPr txBox="1"/>
          <p:nvPr/>
        </p:nvSpPr>
        <p:spPr>
          <a:xfrm>
            <a:off x="10515600" y="6492240"/>
            <a:ext cx="1371600" cy="320040"/>
          </a:xfrm>
          <a:prstGeom prst="rect">
            <a:avLst/>
          </a:prstGeom>
          <a:noFill/>
        </p:spPr>
        <p:txBody>
          <a:bodyPr wrap="square">
            <a:spAutoFit/>
          </a:bodyPr>
          <a:lstStyle/>
          <a:p>
            <a:pPr algn="r">
              <a:lnSpc>
                <a:spcPts val="1080"/>
              </a:lnSpc>
              <a:spcBef>
                <a:spcPts val="0"/>
              </a:spcBef>
              <a:spcAft>
                <a:spcPts val="0"/>
              </a:spcAft>
              <a:defRPr sz="900" b="0">
                <a:solidFill>
                  <a:srgbClr val="8090A8"/>
                </a:solidFill>
                <a:latin typeface="Calibri"/>
              </a:defRPr>
            </a:pPr>
            <a:r>
              <a:t>8</a:t>
            </a:r>
          </a:p>
        </p:txBody>
      </p:sp>
      <p:sp>
        <p:nvSpPr>
          <p:cNvPr id="10" name="Rectangle 9"/>
          <p:cNvSpPr/>
          <p:nvPr/>
        </p:nvSpPr>
        <p:spPr>
          <a:xfrm>
            <a:off x="777240" y="1481328"/>
            <a:ext cx="320040" cy="32004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81328"/>
            <a:ext cx="320040" cy="320040"/>
          </a:xfrm>
          <a:prstGeom prst="rect">
            <a:avLst/>
          </a:prstGeom>
          <a:noFill/>
        </p:spPr>
        <p:txBody>
          <a:bodyPr wrap="square">
            <a:spAutoFit/>
          </a:bodyPr>
          <a:lstStyle/>
          <a:p>
            <a:pPr algn="ctr">
              <a:lnSpc>
                <a:spcPts val="1680"/>
              </a:lnSpc>
              <a:spcBef>
                <a:spcPts val="0"/>
              </a:spcBef>
              <a:spcAft>
                <a:spcPts val="0"/>
              </a:spcAft>
              <a:defRPr sz="1400" b="1">
                <a:solidFill>
                  <a:srgbClr val="0F1A30"/>
                </a:solidFill>
                <a:latin typeface="Calibri"/>
              </a:defRPr>
            </a:pPr>
            <a:r>
              <a:t>1</a:t>
            </a:r>
          </a:p>
        </p:txBody>
      </p:sp>
      <p:sp>
        <p:nvSpPr>
          <p:cNvPr id="12" name="TextBox 11"/>
          <p:cNvSpPr txBox="1"/>
          <p:nvPr/>
        </p:nvSpPr>
        <p:spPr>
          <a:xfrm>
            <a:off x="1371600" y="1463040"/>
            <a:ext cx="9601200" cy="320040"/>
          </a:xfrm>
          <a:prstGeom prst="rect">
            <a:avLst/>
          </a:prstGeom>
          <a:noFill/>
        </p:spPr>
        <p:txBody>
          <a:bodyPr wrap="square">
            <a:spAutoFit/>
          </a:bodyPr>
          <a:lstStyle/>
          <a:p>
            <a:pPr algn="l">
              <a:lnSpc>
                <a:spcPts val="1920"/>
              </a:lnSpc>
              <a:spcBef>
                <a:spcPts val="0"/>
              </a:spcBef>
              <a:spcAft>
                <a:spcPts val="0"/>
              </a:spcAft>
              <a:defRPr sz="1600" b="1">
                <a:solidFill>
                  <a:srgbClr val="FFFFFF"/>
                </a:solidFill>
                <a:latin typeface="Calibri"/>
              </a:defRPr>
            </a:pPr>
            <a:r>
              <a:t>Set up CI/CD on day one</a:t>
            </a:r>
          </a:p>
        </p:txBody>
      </p:sp>
      <p:sp>
        <p:nvSpPr>
          <p:cNvPr id="13" name="TextBox 12"/>
          <p:cNvSpPr txBox="1"/>
          <p:nvPr/>
        </p:nvSpPr>
        <p:spPr>
          <a:xfrm>
            <a:off x="1371600" y="1810512"/>
            <a:ext cx="9601200" cy="365760"/>
          </a:xfrm>
          <a:prstGeom prst="rect">
            <a:avLst/>
          </a:prstGeom>
          <a:noFill/>
        </p:spPr>
        <p:txBody>
          <a:bodyPr wrap="square">
            <a:spAutoFit/>
          </a:bodyPr>
          <a:lstStyle/>
          <a:p>
            <a:pPr algn="l">
              <a:lnSpc>
                <a:spcPts val="1560"/>
              </a:lnSpc>
              <a:spcBef>
                <a:spcPts val="0"/>
              </a:spcBef>
              <a:spcAft>
                <a:spcPts val="0"/>
              </a:spcAft>
              <a:defRPr sz="1300" b="0">
                <a:solidFill>
                  <a:srgbClr val="E8ECF1"/>
                </a:solidFill>
                <a:latin typeface="Calibri"/>
              </a:defRPr>
            </a:pPr>
            <a:r>
              <a:t>Even a basic ShellCheck pass from the very first commit establishes quality standards immediately.</a:t>
            </a:r>
          </a:p>
        </p:txBody>
      </p:sp>
      <p:sp>
        <p:nvSpPr>
          <p:cNvPr id="14" name="Rectangle 13"/>
          <p:cNvSpPr/>
          <p:nvPr/>
        </p:nvSpPr>
        <p:spPr>
          <a:xfrm>
            <a:off x="777240" y="2395728"/>
            <a:ext cx="320040" cy="32004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395728"/>
            <a:ext cx="320040" cy="320040"/>
          </a:xfrm>
          <a:prstGeom prst="rect">
            <a:avLst/>
          </a:prstGeom>
          <a:noFill/>
        </p:spPr>
        <p:txBody>
          <a:bodyPr wrap="square">
            <a:spAutoFit/>
          </a:bodyPr>
          <a:lstStyle/>
          <a:p>
            <a:pPr algn="ctr">
              <a:lnSpc>
                <a:spcPts val="1680"/>
              </a:lnSpc>
              <a:spcBef>
                <a:spcPts val="0"/>
              </a:spcBef>
              <a:spcAft>
                <a:spcPts val="0"/>
              </a:spcAft>
              <a:defRPr sz="1400" b="1">
                <a:solidFill>
                  <a:srgbClr val="0F1A30"/>
                </a:solidFill>
                <a:latin typeface="Calibri"/>
              </a:defRPr>
            </a:pPr>
            <a:r>
              <a:t>2</a:t>
            </a:r>
          </a:p>
        </p:txBody>
      </p:sp>
      <p:sp>
        <p:nvSpPr>
          <p:cNvPr id="16" name="TextBox 15"/>
          <p:cNvSpPr txBox="1"/>
          <p:nvPr/>
        </p:nvSpPr>
        <p:spPr>
          <a:xfrm>
            <a:off x="1371600" y="2377440"/>
            <a:ext cx="9601200" cy="320040"/>
          </a:xfrm>
          <a:prstGeom prst="rect">
            <a:avLst/>
          </a:prstGeom>
          <a:noFill/>
        </p:spPr>
        <p:txBody>
          <a:bodyPr wrap="square">
            <a:spAutoFit/>
          </a:bodyPr>
          <a:lstStyle/>
          <a:p>
            <a:pPr algn="l">
              <a:lnSpc>
                <a:spcPts val="1920"/>
              </a:lnSpc>
              <a:spcBef>
                <a:spcPts val="0"/>
              </a:spcBef>
              <a:spcAft>
                <a:spcPts val="0"/>
              </a:spcAft>
              <a:defRPr sz="1600" b="1">
                <a:solidFill>
                  <a:srgbClr val="FFFFFF"/>
                </a:solidFill>
                <a:latin typeface="Calibri"/>
              </a:defRPr>
            </a:pPr>
            <a:r>
              <a:t>Add comprehensive test coverage (BATS)</a:t>
            </a:r>
          </a:p>
        </p:txBody>
      </p:sp>
      <p:sp>
        <p:nvSpPr>
          <p:cNvPr id="17" name="TextBox 16"/>
          <p:cNvSpPr txBox="1"/>
          <p:nvPr/>
        </p:nvSpPr>
        <p:spPr>
          <a:xfrm>
            <a:off x="1371600" y="2724912"/>
            <a:ext cx="9601200" cy="365760"/>
          </a:xfrm>
          <a:prstGeom prst="rect">
            <a:avLst/>
          </a:prstGeom>
          <a:noFill/>
        </p:spPr>
        <p:txBody>
          <a:bodyPr wrap="square">
            <a:spAutoFit/>
          </a:bodyPr>
          <a:lstStyle/>
          <a:p>
            <a:pPr algn="l">
              <a:lnSpc>
                <a:spcPts val="1560"/>
              </a:lnSpc>
              <a:spcBef>
                <a:spcPts val="0"/>
              </a:spcBef>
              <a:spcAft>
                <a:spcPts val="0"/>
              </a:spcAft>
              <a:defRPr sz="1300" b="0">
                <a:solidFill>
                  <a:srgbClr val="E8ECF1"/>
                </a:solidFill>
                <a:latin typeface="Calibri"/>
              </a:defRPr>
            </a:pPr>
            <a:r>
              <a:t>The Bash Automated Testing System enables unit tests for individual functions, not just syntax checks.</a:t>
            </a:r>
          </a:p>
        </p:txBody>
      </p:sp>
      <p:sp>
        <p:nvSpPr>
          <p:cNvPr id="18" name="Rectangle 17"/>
          <p:cNvSpPr/>
          <p:nvPr/>
        </p:nvSpPr>
        <p:spPr>
          <a:xfrm>
            <a:off x="777240" y="3310128"/>
            <a:ext cx="320040" cy="32004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310128"/>
            <a:ext cx="320040" cy="320040"/>
          </a:xfrm>
          <a:prstGeom prst="rect">
            <a:avLst/>
          </a:prstGeom>
          <a:noFill/>
        </p:spPr>
        <p:txBody>
          <a:bodyPr wrap="square">
            <a:spAutoFit/>
          </a:bodyPr>
          <a:lstStyle/>
          <a:p>
            <a:pPr algn="ctr">
              <a:lnSpc>
                <a:spcPts val="1680"/>
              </a:lnSpc>
              <a:spcBef>
                <a:spcPts val="0"/>
              </a:spcBef>
              <a:spcAft>
                <a:spcPts val="0"/>
              </a:spcAft>
              <a:defRPr sz="1400" b="1">
                <a:solidFill>
                  <a:srgbClr val="0F1A30"/>
                </a:solidFill>
                <a:latin typeface="Calibri"/>
              </a:defRPr>
            </a:pPr>
            <a:r>
              <a:t>3</a:t>
            </a:r>
          </a:p>
        </p:txBody>
      </p:sp>
      <p:sp>
        <p:nvSpPr>
          <p:cNvPr id="20" name="TextBox 19"/>
          <p:cNvSpPr txBox="1"/>
          <p:nvPr/>
        </p:nvSpPr>
        <p:spPr>
          <a:xfrm>
            <a:off x="1371600" y="3291840"/>
            <a:ext cx="9601200" cy="320040"/>
          </a:xfrm>
          <a:prstGeom prst="rect">
            <a:avLst/>
          </a:prstGeom>
          <a:noFill/>
        </p:spPr>
        <p:txBody>
          <a:bodyPr wrap="square">
            <a:spAutoFit/>
          </a:bodyPr>
          <a:lstStyle/>
          <a:p>
            <a:pPr algn="l">
              <a:lnSpc>
                <a:spcPts val="1920"/>
              </a:lnSpc>
              <a:spcBef>
                <a:spcPts val="0"/>
              </a:spcBef>
              <a:spcAft>
                <a:spcPts val="0"/>
              </a:spcAft>
              <a:defRPr sz="1600" b="1">
                <a:solidFill>
                  <a:srgbClr val="FFFFFF"/>
                </a:solidFill>
                <a:latin typeface="Calibri"/>
              </a:defRPr>
            </a:pPr>
            <a:r>
              <a:t>Implement pre-commit hooks locally</a:t>
            </a:r>
          </a:p>
        </p:txBody>
      </p:sp>
      <p:sp>
        <p:nvSpPr>
          <p:cNvPr id="21" name="TextBox 20"/>
          <p:cNvSpPr txBox="1"/>
          <p:nvPr/>
        </p:nvSpPr>
        <p:spPr>
          <a:xfrm>
            <a:off x="1371600" y="3639312"/>
            <a:ext cx="9601200" cy="365760"/>
          </a:xfrm>
          <a:prstGeom prst="rect">
            <a:avLst/>
          </a:prstGeom>
          <a:noFill/>
        </p:spPr>
        <p:txBody>
          <a:bodyPr wrap="square">
            <a:spAutoFit/>
          </a:bodyPr>
          <a:lstStyle/>
          <a:p>
            <a:pPr algn="l">
              <a:lnSpc>
                <a:spcPts val="1560"/>
              </a:lnSpc>
              <a:spcBef>
                <a:spcPts val="0"/>
              </a:spcBef>
              <a:spcAft>
                <a:spcPts val="0"/>
              </a:spcAft>
              <a:defRPr sz="1300" b="0">
                <a:solidFill>
                  <a:srgbClr val="E8ECF1"/>
                </a:solidFill>
                <a:latin typeface="Calibri"/>
              </a:defRPr>
            </a:pPr>
            <a:r>
              <a:t>Catch linting and formatting issues before code even reaches the remote repository.</a:t>
            </a:r>
          </a:p>
        </p:txBody>
      </p:sp>
      <p:sp>
        <p:nvSpPr>
          <p:cNvPr id="22" name="Rectangle 21"/>
          <p:cNvSpPr/>
          <p:nvPr/>
        </p:nvSpPr>
        <p:spPr>
          <a:xfrm>
            <a:off x="777240" y="4224528"/>
            <a:ext cx="320040" cy="32004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224528"/>
            <a:ext cx="320040" cy="320040"/>
          </a:xfrm>
          <a:prstGeom prst="rect">
            <a:avLst/>
          </a:prstGeom>
          <a:noFill/>
        </p:spPr>
        <p:txBody>
          <a:bodyPr wrap="square">
            <a:spAutoFit/>
          </a:bodyPr>
          <a:lstStyle/>
          <a:p>
            <a:pPr algn="ctr">
              <a:lnSpc>
                <a:spcPts val="1680"/>
              </a:lnSpc>
              <a:spcBef>
                <a:spcPts val="0"/>
              </a:spcBef>
              <a:spcAft>
                <a:spcPts val="0"/>
              </a:spcAft>
              <a:defRPr sz="1400" b="1">
                <a:solidFill>
                  <a:srgbClr val="0F1A30"/>
                </a:solidFill>
                <a:latin typeface="Calibri"/>
              </a:defRPr>
            </a:pPr>
            <a:r>
              <a:t>4</a:t>
            </a:r>
          </a:p>
        </p:txBody>
      </p:sp>
      <p:sp>
        <p:nvSpPr>
          <p:cNvPr id="24" name="TextBox 23"/>
          <p:cNvSpPr txBox="1"/>
          <p:nvPr/>
        </p:nvSpPr>
        <p:spPr>
          <a:xfrm>
            <a:off x="1371600" y="4206240"/>
            <a:ext cx="9601200" cy="320040"/>
          </a:xfrm>
          <a:prstGeom prst="rect">
            <a:avLst/>
          </a:prstGeom>
          <a:noFill/>
        </p:spPr>
        <p:txBody>
          <a:bodyPr wrap="square">
            <a:spAutoFit/>
          </a:bodyPr>
          <a:lstStyle/>
          <a:p>
            <a:pPr algn="l">
              <a:lnSpc>
                <a:spcPts val="1920"/>
              </a:lnSpc>
              <a:spcBef>
                <a:spcPts val="0"/>
              </a:spcBef>
              <a:spcAft>
                <a:spcPts val="0"/>
              </a:spcAft>
              <a:defRPr sz="1600" b="1">
                <a:solidFill>
                  <a:srgbClr val="FFFFFF"/>
                </a:solidFill>
                <a:latin typeface="Calibri"/>
              </a:defRPr>
            </a:pPr>
            <a:r>
              <a:t>Adopt semantic versioning with tagged releases</a:t>
            </a:r>
          </a:p>
        </p:txBody>
      </p:sp>
      <p:sp>
        <p:nvSpPr>
          <p:cNvPr id="25" name="TextBox 24"/>
          <p:cNvSpPr txBox="1"/>
          <p:nvPr/>
        </p:nvSpPr>
        <p:spPr>
          <a:xfrm>
            <a:off x="1371600" y="4553712"/>
            <a:ext cx="9601200" cy="365760"/>
          </a:xfrm>
          <a:prstGeom prst="rect">
            <a:avLst/>
          </a:prstGeom>
          <a:noFill/>
        </p:spPr>
        <p:txBody>
          <a:bodyPr wrap="square">
            <a:spAutoFit/>
          </a:bodyPr>
          <a:lstStyle/>
          <a:p>
            <a:pPr algn="l">
              <a:lnSpc>
                <a:spcPts val="1560"/>
              </a:lnSpc>
              <a:spcBef>
                <a:spcPts val="0"/>
              </a:spcBef>
              <a:spcAft>
                <a:spcPts val="0"/>
              </a:spcAft>
              <a:defRPr sz="1300" b="0">
                <a:solidFill>
                  <a:srgbClr val="E8ECF1"/>
                </a:solidFill>
                <a:latin typeface="Calibri"/>
              </a:defRPr>
            </a:pPr>
            <a:r>
              <a:t>Clearly track which version of the script is deployed and enable easy rollbacks.</a:t>
            </a:r>
          </a:p>
        </p:txBody>
      </p:sp>
      <p:sp>
        <p:nvSpPr>
          <p:cNvPr id="26" name="Rectangle 25"/>
          <p:cNvSpPr/>
          <p:nvPr/>
        </p:nvSpPr>
        <p:spPr>
          <a:xfrm>
            <a:off x="777240" y="5138928"/>
            <a:ext cx="320040" cy="32004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138928"/>
            <a:ext cx="320040" cy="320040"/>
          </a:xfrm>
          <a:prstGeom prst="rect">
            <a:avLst/>
          </a:prstGeom>
          <a:noFill/>
        </p:spPr>
        <p:txBody>
          <a:bodyPr wrap="square">
            <a:spAutoFit/>
          </a:bodyPr>
          <a:lstStyle/>
          <a:p>
            <a:pPr algn="ctr">
              <a:lnSpc>
                <a:spcPts val="1680"/>
              </a:lnSpc>
              <a:spcBef>
                <a:spcPts val="0"/>
              </a:spcBef>
              <a:spcAft>
                <a:spcPts val="0"/>
              </a:spcAft>
              <a:defRPr sz="1400" b="1">
                <a:solidFill>
                  <a:srgbClr val="0F1A30"/>
                </a:solidFill>
                <a:latin typeface="Calibri"/>
              </a:defRPr>
            </a:pPr>
            <a:r>
              <a:t>5</a:t>
            </a:r>
          </a:p>
        </p:txBody>
      </p:sp>
      <p:sp>
        <p:nvSpPr>
          <p:cNvPr id="28" name="TextBox 27"/>
          <p:cNvSpPr txBox="1"/>
          <p:nvPr/>
        </p:nvSpPr>
        <p:spPr>
          <a:xfrm>
            <a:off x="1371600" y="5120640"/>
            <a:ext cx="9601200" cy="320040"/>
          </a:xfrm>
          <a:prstGeom prst="rect">
            <a:avLst/>
          </a:prstGeom>
          <a:noFill/>
        </p:spPr>
        <p:txBody>
          <a:bodyPr wrap="square">
            <a:spAutoFit/>
          </a:bodyPr>
          <a:lstStyle/>
          <a:p>
            <a:pPr algn="l">
              <a:lnSpc>
                <a:spcPts val="1920"/>
              </a:lnSpc>
              <a:spcBef>
                <a:spcPts val="0"/>
              </a:spcBef>
              <a:spcAft>
                <a:spcPts val="0"/>
              </a:spcAft>
              <a:defRPr sz="1600" b="1">
                <a:solidFill>
                  <a:srgbClr val="FFFFFF"/>
                </a:solidFill>
                <a:latin typeface="Calibri"/>
              </a:defRPr>
            </a:pPr>
            <a:r>
              <a:t>Add automated staging deployment</a:t>
            </a:r>
          </a:p>
        </p:txBody>
      </p:sp>
      <p:sp>
        <p:nvSpPr>
          <p:cNvPr id="29" name="TextBox 28"/>
          <p:cNvSpPr txBox="1"/>
          <p:nvPr/>
        </p:nvSpPr>
        <p:spPr>
          <a:xfrm>
            <a:off x="1371600" y="5468112"/>
            <a:ext cx="9601200" cy="365760"/>
          </a:xfrm>
          <a:prstGeom prst="rect">
            <a:avLst/>
          </a:prstGeom>
          <a:noFill/>
        </p:spPr>
        <p:txBody>
          <a:bodyPr wrap="square">
            <a:spAutoFit/>
          </a:bodyPr>
          <a:lstStyle/>
          <a:p>
            <a:pPr algn="l">
              <a:lnSpc>
                <a:spcPts val="1560"/>
              </a:lnSpc>
              <a:spcBef>
                <a:spcPts val="0"/>
              </a:spcBef>
              <a:spcAft>
                <a:spcPts val="0"/>
              </a:spcAft>
              <a:defRPr sz="1300" b="0">
                <a:solidFill>
                  <a:srgbClr val="E8ECF1"/>
                </a:solidFill>
                <a:latin typeface="Calibri"/>
              </a:defRPr>
            </a:pPr>
            <a:r>
              <a:t>Test changes in a real Ubuntu VM environment before pushing to production.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058400" cy="59436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Conclusion</a:t>
            </a:r>
          </a:p>
        </p:txBody>
      </p:sp>
      <p:sp>
        <p:nvSpPr>
          <p:cNvPr id="5" name="TextBox 4"/>
          <p:cNvSpPr txBox="1"/>
          <p:nvPr/>
        </p:nvSpPr>
        <p:spPr>
          <a:xfrm>
            <a:off x="685800" y="731520"/>
            <a:ext cx="10058400" cy="365760"/>
          </a:xfrm>
          <a:prstGeom prst="rect">
            <a:avLst/>
          </a:prstGeom>
          <a:noFill/>
        </p:spPr>
        <p:txBody>
          <a:bodyPr wrap="square">
            <a:spAutoFit/>
          </a:bodyPr>
          <a:lstStyle/>
          <a:p>
            <a:pPr algn="l">
              <a:lnSpc>
                <a:spcPts val="1680"/>
              </a:lnSpc>
              <a:spcBef>
                <a:spcPts val="0"/>
              </a:spcBef>
              <a:spcAft>
                <a:spcPts val="0"/>
              </a:spcAft>
              <a:defRPr sz="1400" b="0">
                <a:solidFill>
                  <a:srgbClr val="00BCD4"/>
                </a:solidFill>
                <a:latin typeface="Calibri"/>
              </a:defRPr>
            </a:pPr>
            <a:r>
              <a:t>Project Summary &amp; Team Growth</a:t>
            </a:r>
          </a:p>
        </p:txBody>
      </p:sp>
      <p:sp>
        <p:nvSpPr>
          <p:cNvPr id="6" name="Rectangle 5"/>
          <p:cNvSpPr/>
          <p:nvPr/>
        </p:nvSpPr>
        <p:spPr>
          <a:xfrm>
            <a:off x="0" y="6446520"/>
            <a:ext cx="12191695" cy="41148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2743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92240"/>
            <a:ext cx="4572000" cy="320040"/>
          </a:xfrm>
          <a:prstGeom prst="rect">
            <a:avLst/>
          </a:prstGeom>
          <a:noFill/>
        </p:spPr>
        <p:txBody>
          <a:bodyPr wrap="square">
            <a:spAutoFit/>
          </a:bodyPr>
          <a:lstStyle/>
          <a:p>
            <a:pPr algn="l">
              <a:lnSpc>
                <a:spcPts val="1080"/>
              </a:lnSpc>
              <a:spcBef>
                <a:spcPts val="0"/>
              </a:spcBef>
              <a:spcAft>
                <a:spcPts val="0"/>
              </a:spcAft>
              <a:defRPr sz="900" b="0">
                <a:solidFill>
                  <a:srgbClr val="8090A8"/>
                </a:solidFill>
                <a:latin typeface="Calibri"/>
              </a:defRPr>
            </a:pPr>
            <a:r>
              <a:t>DeelTech Solutions  |  Confidential</a:t>
            </a:r>
          </a:p>
        </p:txBody>
      </p:sp>
      <p:sp>
        <p:nvSpPr>
          <p:cNvPr id="9" name="TextBox 8"/>
          <p:cNvSpPr txBox="1"/>
          <p:nvPr/>
        </p:nvSpPr>
        <p:spPr>
          <a:xfrm>
            <a:off x="10515600" y="6492240"/>
            <a:ext cx="1371600" cy="320040"/>
          </a:xfrm>
          <a:prstGeom prst="rect">
            <a:avLst/>
          </a:prstGeom>
          <a:noFill/>
        </p:spPr>
        <p:txBody>
          <a:bodyPr wrap="square">
            <a:spAutoFit/>
          </a:bodyPr>
          <a:lstStyle/>
          <a:p>
            <a:pPr algn="r">
              <a:lnSpc>
                <a:spcPts val="1080"/>
              </a:lnSpc>
              <a:spcBef>
                <a:spcPts val="0"/>
              </a:spcBef>
              <a:spcAft>
                <a:spcPts val="0"/>
              </a:spcAft>
              <a:defRPr sz="900" b="0">
                <a:solidFill>
                  <a:srgbClr val="8090A8"/>
                </a:solidFill>
                <a:latin typeface="Calibri"/>
              </a:defRPr>
            </a:pPr>
            <a:r>
              <a:t>9</a:t>
            </a:r>
          </a:p>
        </p:txBody>
      </p:sp>
      <p:sp>
        <p:nvSpPr>
          <p:cNvPr id="10" name="Rectangle 9"/>
          <p:cNvSpPr/>
          <p:nvPr/>
        </p:nvSpPr>
        <p:spPr>
          <a:xfrm>
            <a:off x="685800" y="1463040"/>
            <a:ext cx="10744200" cy="182880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463040"/>
            <a:ext cx="107442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600200"/>
            <a:ext cx="10378440" cy="320040"/>
          </a:xfrm>
          <a:prstGeom prst="rect">
            <a:avLst/>
          </a:prstGeom>
          <a:noFill/>
        </p:spPr>
        <p:txBody>
          <a:bodyPr wrap="square">
            <a:spAutoFit/>
          </a:bodyPr>
          <a:lstStyle/>
          <a:p>
            <a:pPr algn="l">
              <a:lnSpc>
                <a:spcPts val="2160"/>
              </a:lnSpc>
              <a:spcBef>
                <a:spcPts val="0"/>
              </a:spcBef>
              <a:spcAft>
                <a:spcPts val="0"/>
              </a:spcAft>
              <a:defRPr sz="1800" b="1">
                <a:solidFill>
                  <a:srgbClr val="00BCD4"/>
                </a:solidFill>
                <a:latin typeface="Calibri"/>
              </a:defRPr>
            </a:pPr>
            <a:r>
              <a:t>What We Delivered</a:t>
            </a:r>
          </a:p>
        </p:txBody>
      </p:sp>
      <p:sp>
        <p:nvSpPr>
          <p:cNvPr id="13" name="TextBox 12"/>
          <p:cNvSpPr txBox="1"/>
          <p:nvPr/>
        </p:nvSpPr>
        <p:spPr>
          <a:xfrm>
            <a:off x="868680" y="1920240"/>
            <a:ext cx="10378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A functional CI/CD pipeline that automatically validates every change through linting, syntax checking, and structural verification</a:t>
            </a:r>
          </a:p>
        </p:txBody>
      </p:sp>
      <p:sp>
        <p:nvSpPr>
          <p:cNvPr id="14" name="TextBox 13"/>
          <p:cNvSpPr txBox="1"/>
          <p:nvPr/>
        </p:nvSpPr>
        <p:spPr>
          <a:xfrm>
            <a:off x="868680" y="2121408"/>
            <a:ext cx="10378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A complete BASH automation tool: web scraper, auto user creation, manual add user, and license system (534 lines)</a:t>
            </a:r>
          </a:p>
        </p:txBody>
      </p:sp>
      <p:sp>
        <p:nvSpPr>
          <p:cNvPr id="15" name="TextBox 14"/>
          <p:cNvSpPr txBox="1"/>
          <p:nvPr/>
        </p:nvSpPr>
        <p:spPr>
          <a:xfrm>
            <a:off x="868680" y="2322576"/>
            <a:ext cx="10378440" cy="228600"/>
          </a:xfrm>
          <a:prstGeom prst="rect">
            <a:avLst/>
          </a:prstGeom>
          <a:noFill/>
        </p:spPr>
        <p:txBody>
          <a:bodyPr wrap="square">
            <a:spAutoFit/>
          </a:bodyPr>
          <a:lstStyle/>
          <a:p>
            <a:pPr algn="l">
              <a:lnSpc>
                <a:spcPts val="1680"/>
              </a:lnSpc>
              <a:spcBef>
                <a:spcPts val="0"/>
              </a:spcBef>
              <a:spcAft>
                <a:spcPts val="0"/>
              </a:spcAft>
              <a:defRPr sz="1400" b="0">
                <a:solidFill>
                  <a:srgbClr val="FFFFFF"/>
                </a:solidFill>
                <a:latin typeface="Calibri"/>
              </a:defRPr>
            </a:pPr>
            <a:r>
              <a:t>Full documentation: user manual, presentation materials, speaking scripts, and CI/CD configuration</a:t>
            </a:r>
          </a:p>
        </p:txBody>
      </p:sp>
      <p:sp>
        <p:nvSpPr>
          <p:cNvPr id="16" name="Rectangle 15"/>
          <p:cNvSpPr/>
          <p:nvPr/>
        </p:nvSpPr>
        <p:spPr>
          <a:xfrm>
            <a:off x="685800" y="3657600"/>
            <a:ext cx="5029200" cy="219456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3657600"/>
            <a:ext cx="50292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794760"/>
            <a:ext cx="4663440" cy="320040"/>
          </a:xfrm>
          <a:prstGeom prst="rect">
            <a:avLst/>
          </a:prstGeom>
          <a:noFill/>
        </p:spPr>
        <p:txBody>
          <a:bodyPr wrap="square">
            <a:spAutoFit/>
          </a:bodyPr>
          <a:lstStyle/>
          <a:p>
            <a:pPr algn="l">
              <a:lnSpc>
                <a:spcPts val="1800"/>
              </a:lnSpc>
              <a:spcBef>
                <a:spcPts val="0"/>
              </a:spcBef>
              <a:spcAft>
                <a:spcPts val="0"/>
              </a:spcAft>
              <a:defRPr sz="1500" b="1">
                <a:solidFill>
                  <a:srgbClr val="4CAF50"/>
                </a:solidFill>
                <a:latin typeface="Calibri"/>
              </a:defRPr>
            </a:pPr>
            <a:r>
              <a:t>Team Growth</a:t>
            </a:r>
          </a:p>
        </p:txBody>
      </p:sp>
      <p:sp>
        <p:nvSpPr>
          <p:cNvPr id="19" name="TextBox 18"/>
          <p:cNvSpPr txBox="1"/>
          <p:nvPr/>
        </p:nvSpPr>
        <p:spPr>
          <a:xfrm>
            <a:off x="868680" y="4114800"/>
            <a:ext cx="4663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BASH scripting and Linux administration</a:t>
            </a:r>
          </a:p>
        </p:txBody>
      </p:sp>
      <p:sp>
        <p:nvSpPr>
          <p:cNvPr id="20" name="TextBox 19"/>
          <p:cNvSpPr txBox="1"/>
          <p:nvPr/>
        </p:nvSpPr>
        <p:spPr>
          <a:xfrm>
            <a:off x="868680" y="4315968"/>
            <a:ext cx="4663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Git workflow and branch management</a:t>
            </a:r>
          </a:p>
        </p:txBody>
      </p:sp>
      <p:sp>
        <p:nvSpPr>
          <p:cNvPr id="21" name="TextBox 20"/>
          <p:cNvSpPr txBox="1"/>
          <p:nvPr/>
        </p:nvSpPr>
        <p:spPr>
          <a:xfrm>
            <a:off x="868680" y="4517136"/>
            <a:ext cx="4663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CI/CD pipeline design and implementation</a:t>
            </a:r>
          </a:p>
        </p:txBody>
      </p:sp>
      <p:sp>
        <p:nvSpPr>
          <p:cNvPr id="22" name="TextBox 21"/>
          <p:cNvSpPr txBox="1"/>
          <p:nvPr/>
        </p:nvSpPr>
        <p:spPr>
          <a:xfrm>
            <a:off x="868680" y="4718304"/>
            <a:ext cx="4663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Collaborative DevOps practices</a:t>
            </a:r>
          </a:p>
        </p:txBody>
      </p:sp>
      <p:sp>
        <p:nvSpPr>
          <p:cNvPr id="23" name="TextBox 22"/>
          <p:cNvSpPr txBox="1"/>
          <p:nvPr/>
        </p:nvSpPr>
        <p:spPr>
          <a:xfrm>
            <a:off x="868680" y="4919472"/>
            <a:ext cx="4663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Technical documentation and presentation</a:t>
            </a:r>
          </a:p>
        </p:txBody>
      </p:sp>
      <p:sp>
        <p:nvSpPr>
          <p:cNvPr id="24" name="Rectangle 23"/>
          <p:cNvSpPr/>
          <p:nvPr/>
        </p:nvSpPr>
        <p:spPr>
          <a:xfrm>
            <a:off x="6400800" y="3657600"/>
            <a:ext cx="5029200" cy="219456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3657600"/>
            <a:ext cx="50292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3794760"/>
            <a:ext cx="4663440" cy="320040"/>
          </a:xfrm>
          <a:prstGeom prst="rect">
            <a:avLst/>
          </a:prstGeom>
          <a:noFill/>
        </p:spPr>
        <p:txBody>
          <a:bodyPr wrap="square">
            <a:spAutoFit/>
          </a:bodyPr>
          <a:lstStyle/>
          <a:p>
            <a:pPr algn="l">
              <a:lnSpc>
                <a:spcPts val="1800"/>
              </a:lnSpc>
              <a:spcBef>
                <a:spcPts val="0"/>
              </a:spcBef>
              <a:spcAft>
                <a:spcPts val="0"/>
              </a:spcAft>
              <a:defRPr sz="1500" b="1">
                <a:solidFill>
                  <a:srgbClr val="4A90D9"/>
                </a:solidFill>
                <a:latin typeface="Calibri"/>
              </a:defRPr>
            </a:pPr>
            <a:r>
              <a:t>DevOps Value</a:t>
            </a:r>
          </a:p>
        </p:txBody>
      </p:sp>
      <p:sp>
        <p:nvSpPr>
          <p:cNvPr id="27" name="TextBox 26"/>
          <p:cNvSpPr txBox="1"/>
          <p:nvPr/>
        </p:nvSpPr>
        <p:spPr>
          <a:xfrm>
            <a:off x="6583680" y="4114800"/>
            <a:ext cx="4663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Automation reduces errors and saves time</a:t>
            </a:r>
          </a:p>
        </p:txBody>
      </p:sp>
      <p:sp>
        <p:nvSpPr>
          <p:cNvPr id="28" name="TextBox 27"/>
          <p:cNvSpPr txBox="1"/>
          <p:nvPr/>
        </p:nvSpPr>
        <p:spPr>
          <a:xfrm>
            <a:off x="6583680" y="4315968"/>
            <a:ext cx="4663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CI/CD builds confidence in code quality</a:t>
            </a:r>
          </a:p>
        </p:txBody>
      </p:sp>
      <p:sp>
        <p:nvSpPr>
          <p:cNvPr id="29" name="TextBox 28"/>
          <p:cNvSpPr txBox="1"/>
          <p:nvPr/>
        </p:nvSpPr>
        <p:spPr>
          <a:xfrm>
            <a:off x="6583680" y="4517136"/>
            <a:ext cx="4663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Branch protection prevents production issues</a:t>
            </a:r>
          </a:p>
        </p:txBody>
      </p:sp>
      <p:sp>
        <p:nvSpPr>
          <p:cNvPr id="30" name="TextBox 29"/>
          <p:cNvSpPr txBox="1"/>
          <p:nvPr/>
        </p:nvSpPr>
        <p:spPr>
          <a:xfrm>
            <a:off x="6583680" y="4718304"/>
            <a:ext cx="4663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Documentation enables maintainability</a:t>
            </a:r>
          </a:p>
        </p:txBody>
      </p:sp>
      <p:sp>
        <p:nvSpPr>
          <p:cNvPr id="31" name="TextBox 30"/>
          <p:cNvSpPr txBox="1"/>
          <p:nvPr/>
        </p:nvSpPr>
        <p:spPr>
          <a:xfrm>
            <a:off x="6583680" y="4919472"/>
            <a:ext cx="4663440" cy="228600"/>
          </a:xfrm>
          <a:prstGeom prst="rect">
            <a:avLst/>
          </a:prstGeom>
          <a:noFill/>
        </p:spPr>
        <p:txBody>
          <a:bodyPr wrap="square">
            <a:spAutoFit/>
          </a:bodyPr>
          <a:lstStyle/>
          <a:p>
            <a:pPr algn="l">
              <a:lnSpc>
                <a:spcPts val="1560"/>
              </a:lnSpc>
              <a:spcBef>
                <a:spcPts val="0"/>
              </a:spcBef>
              <a:spcAft>
                <a:spcPts val="0"/>
              </a:spcAft>
              <a:defRPr sz="1300" b="0">
                <a:solidFill>
                  <a:srgbClr val="FFFFFF"/>
                </a:solidFill>
                <a:latin typeface="Calibri"/>
              </a:defRPr>
            </a:pPr>
            <a:r>
              <a:t>Continuous improvement drives better outcomes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91695" cy="1097280"/>
          </a:xfrm>
          <a:prstGeom prst="rect">
            <a:avLst/>
          </a:prstGeom>
          <a:noFill/>
        </p:spPr>
        <p:txBody>
          <a:bodyPr wrap="square">
            <a:spAutoFit/>
          </a:bodyPr>
          <a:lstStyle/>
          <a:p>
            <a:pPr algn="ctr">
              <a:lnSpc>
                <a:spcPts val="6240"/>
              </a:lnSpc>
              <a:spcBef>
                <a:spcPts val="0"/>
              </a:spcBef>
              <a:spcAft>
                <a:spcPts val="0"/>
              </a:spcAft>
              <a:defRPr sz="5200" b="1">
                <a:solidFill>
                  <a:srgbClr val="FFFFFF"/>
                </a:solidFill>
                <a:latin typeface="Calibri"/>
              </a:defRPr>
            </a:pPr>
            <a:r>
              <a:t>Questions?</a:t>
            </a:r>
          </a:p>
        </p:txBody>
      </p:sp>
      <p:sp>
        <p:nvSpPr>
          <p:cNvPr id="4" name="Rectangle 3"/>
          <p:cNvSpPr/>
          <p:nvPr/>
        </p:nvSpPr>
        <p:spPr>
          <a:xfrm>
            <a:off x="4572000" y="3108960"/>
            <a:ext cx="3047695" cy="2743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3474720"/>
            <a:ext cx="12191695" cy="457200"/>
          </a:xfrm>
          <a:prstGeom prst="rect">
            <a:avLst/>
          </a:prstGeom>
          <a:noFill/>
        </p:spPr>
        <p:txBody>
          <a:bodyPr wrap="square">
            <a:spAutoFit/>
          </a:bodyPr>
          <a:lstStyle/>
          <a:p>
            <a:pPr algn="ctr">
              <a:lnSpc>
                <a:spcPts val="2640"/>
              </a:lnSpc>
              <a:spcBef>
                <a:spcPts val="0"/>
              </a:spcBef>
              <a:spcAft>
                <a:spcPts val="0"/>
              </a:spcAft>
              <a:defRPr sz="2200" b="0">
                <a:solidFill>
                  <a:srgbClr val="E8ECF1"/>
                </a:solidFill>
                <a:latin typeface="Calibri"/>
              </a:defRPr>
            </a:pPr>
            <a:r>
              <a:t>Thank you for your time</a:t>
            </a:r>
          </a:p>
        </p:txBody>
      </p:sp>
      <p:sp>
        <p:nvSpPr>
          <p:cNvPr id="6" name="TextBox 5"/>
          <p:cNvSpPr txBox="1"/>
          <p:nvPr/>
        </p:nvSpPr>
        <p:spPr>
          <a:xfrm>
            <a:off x="0" y="4206240"/>
            <a:ext cx="12191695" cy="365760"/>
          </a:xfrm>
          <a:prstGeom prst="rect">
            <a:avLst/>
          </a:prstGeom>
          <a:noFill/>
        </p:spPr>
        <p:txBody>
          <a:bodyPr wrap="square">
            <a:spAutoFit/>
          </a:bodyPr>
          <a:lstStyle/>
          <a:p>
            <a:pPr algn="ctr">
              <a:lnSpc>
                <a:spcPts val="1920"/>
              </a:lnSpc>
              <a:spcBef>
                <a:spcPts val="0"/>
              </a:spcBef>
              <a:spcAft>
                <a:spcPts val="0"/>
              </a:spcAft>
              <a:defRPr sz="1600" b="0">
                <a:solidFill>
                  <a:srgbClr val="4A90D9"/>
                </a:solidFill>
                <a:latin typeface="Calibri"/>
              </a:defRPr>
            </a:pPr>
            <a:r>
              <a:t>DeelTech Solutions DevOps Team</a:t>
            </a:r>
          </a:p>
        </p:txBody>
      </p:sp>
      <p:sp>
        <p:nvSpPr>
          <p:cNvPr id="7" name="TextBox 6"/>
          <p:cNvSpPr txBox="1"/>
          <p:nvPr/>
        </p:nvSpPr>
        <p:spPr>
          <a:xfrm>
            <a:off x="0" y="4663440"/>
            <a:ext cx="12191695" cy="365760"/>
          </a:xfrm>
          <a:prstGeom prst="rect">
            <a:avLst/>
          </a:prstGeom>
          <a:noFill/>
        </p:spPr>
        <p:txBody>
          <a:bodyPr wrap="square">
            <a:spAutoFit/>
          </a:bodyPr>
          <a:lstStyle/>
          <a:p>
            <a:pPr algn="ctr">
              <a:lnSpc>
                <a:spcPts val="1680"/>
              </a:lnSpc>
              <a:spcBef>
                <a:spcPts val="0"/>
              </a:spcBef>
              <a:spcAft>
                <a:spcPts val="0"/>
              </a:spcAft>
              <a:defRPr sz="1400" b="0">
                <a:solidFill>
                  <a:srgbClr val="8090A8"/>
                </a:solidFill>
                <a:latin typeface="Calibri"/>
              </a:defRPr>
            </a:pPr>
            <a:r>
              <a:t>CSC2510  —  Spring 2026</a:t>
            </a:r>
          </a:p>
        </p:txBody>
      </p:sp>
      <p:sp>
        <p:nvSpPr>
          <p:cNvPr id="8" name="Rectangle 7"/>
          <p:cNvSpPr/>
          <p:nvPr/>
        </p:nvSpPr>
        <p:spPr>
          <a:xfrm>
            <a:off x="0" y="6492240"/>
            <a:ext cx="121916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28816"/>
            <a:ext cx="12191695" cy="329184"/>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5486400" cy="274320"/>
          </a:xfrm>
          <a:prstGeom prst="rect">
            <a:avLst/>
          </a:prstGeom>
          <a:noFill/>
        </p:spPr>
        <p:txBody>
          <a:bodyPr wrap="square">
            <a:spAutoFit/>
          </a:bodyPr>
          <a:lstStyle/>
          <a:p>
            <a:pPr algn="l">
              <a:lnSpc>
                <a:spcPts val="1200"/>
              </a:lnSpc>
              <a:spcBef>
                <a:spcPts val="0"/>
              </a:spcBef>
              <a:spcAft>
                <a:spcPts val="0"/>
              </a:spcAft>
              <a:defRPr sz="1000" b="0">
                <a:solidFill>
                  <a:srgbClr val="8090A8"/>
                </a:solidFill>
                <a:latin typeface="Calibri"/>
              </a:defRPr>
            </a:pPr>
            <a:r>
              <a:t>Technology Consulting  ·  Cloud Infrastructure  ·  DevOps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